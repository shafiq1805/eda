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B8DDF8A-5836-4D2F-8248-3EC57222A476}" type="datetimeFigureOut">
              <a:rPr lang="en-US" smtClean="0"/>
              <a:t>11/23/2023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F1D643-8C14-4259-A3A3-CBF54135257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F1D643-8C14-4259-A3A3-CBF54135257A}"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80ED77D-F998-4CFC-ACB0-C485CEB83026}" type="datetimeFigureOut">
              <a:rPr lang="en-US" smtClean="0"/>
              <a:pPr/>
              <a:t>11/23/2023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B4A4C-F57E-46F0-A5F3-06F40BEE3F1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80ED77D-F998-4CFC-ACB0-C485CEB83026}" type="datetimeFigureOut">
              <a:rPr lang="en-US" smtClean="0"/>
              <a:pPr/>
              <a:t>11/23/2023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B4A4C-F57E-46F0-A5F3-06F40BEE3F1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80ED77D-F998-4CFC-ACB0-C485CEB83026}" type="datetimeFigureOut">
              <a:rPr lang="en-US" smtClean="0"/>
              <a:pPr/>
              <a:t>11/23/2023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B4A4C-F57E-46F0-A5F3-06F40BEE3F1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80ED77D-F998-4CFC-ACB0-C485CEB83026}" type="datetimeFigureOut">
              <a:rPr lang="en-US" smtClean="0"/>
              <a:pPr/>
              <a:t>11/23/2023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2B4A4C-F57E-46F0-A5F3-06F40BEE3F1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80ED77D-F998-4CFC-ACB0-C485CEB83026}" type="datetimeFigureOut">
              <a:rPr lang="en-US" smtClean="0"/>
              <a:pPr/>
              <a:t>11/23/2023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2B4A4C-F57E-46F0-A5F3-06F40BEE3F1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80ED77D-F998-4CFC-ACB0-C485CEB83026}" type="datetimeFigureOut">
              <a:rPr lang="en-US" smtClean="0"/>
              <a:pPr/>
              <a:t>11/23/2023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2B4A4C-F57E-46F0-A5F3-06F40BEE3F1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0ED77D-F998-4CFC-ACB0-C485CEB83026}" type="datetimeFigureOut">
              <a:rPr lang="en-US" smtClean="0"/>
              <a:pPr/>
              <a:t>11/23/2023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2B4A4C-F57E-46F0-A5F3-06F40BEE3F1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80ED77D-F998-4CFC-ACB0-C485CEB83026}" type="datetimeFigureOut">
              <a:rPr lang="en-US" smtClean="0"/>
              <a:pPr/>
              <a:t>11/23/2023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2B4A4C-F57E-46F0-A5F3-06F40BEE3F1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80ED77D-F998-4CFC-ACB0-C485CEB83026}" type="datetimeFigureOut">
              <a:rPr lang="en-US" smtClean="0"/>
              <a:pPr/>
              <a:t>11/23/2023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2B4A4C-F57E-46F0-A5F3-06F40BEE3F1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80ED77D-F998-4CFC-ACB0-C485CEB83026}" type="datetimeFigureOut">
              <a:rPr lang="en-US" smtClean="0"/>
              <a:pPr/>
              <a:t>11/23/2023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B4A4C-F57E-46F0-A5F3-06F40BEE3F1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80ED77D-F998-4CFC-ACB0-C485CEB83026}" type="datetimeFigureOut">
              <a:rPr lang="en-US" smtClean="0"/>
              <a:pPr/>
              <a:t>11/23/2023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B4A4C-F57E-46F0-A5F3-06F40BEE3F1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0ED77D-F998-4CFC-ACB0-C485CEB83026}" type="datetimeFigureOut">
              <a:rPr lang="en-US" smtClean="0"/>
              <a:pPr/>
              <a:t>11/23/2023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2B4A4C-F57E-46F0-A5F3-06F40BEE3F1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81000"/>
            <a:ext cx="7772400" cy="1676400"/>
          </a:xfrm>
        </p:spPr>
        <p:txBody>
          <a:bodyPr/>
          <a:lstStyle/>
          <a:p>
            <a:r>
              <a:rPr lang="en-US" dirty="0" smtClean="0">
                <a:latin typeface="Arial Black" pitchFamily="34" charset="0"/>
              </a:rPr>
              <a:t>Alma </a:t>
            </a:r>
            <a:r>
              <a:rPr lang="en-US" u="sng" dirty="0" smtClean="0">
                <a:uFill>
                  <a:solidFill>
                    <a:srgbClr val="FF0000"/>
                  </a:solidFill>
                </a:uFill>
                <a:latin typeface="Arial Black" pitchFamily="34" charset="0"/>
              </a:rPr>
              <a:t>better</a:t>
            </a:r>
            <a:r>
              <a:rPr lang="en-US" dirty="0" smtClean="0">
                <a:latin typeface="Arial Black" pitchFamily="34" charset="0"/>
              </a:rPr>
              <a:t> </a:t>
            </a:r>
            <a:r>
              <a:rPr lang="en-US" dirty="0" smtClean="0"/>
              <a:t/>
            </a:r>
            <a:br>
              <a:rPr lang="en-US" dirty="0" smtClean="0"/>
            </a:br>
            <a:r>
              <a:rPr lang="en-US" dirty="0" smtClean="0">
                <a:solidFill>
                  <a:schemeClr val="accent3">
                    <a:lumMod val="50000"/>
                  </a:schemeClr>
                </a:solidFill>
                <a:latin typeface="Arial Black" pitchFamily="34" charset="0"/>
              </a:rPr>
              <a:t>Capstone Project -1</a:t>
            </a:r>
            <a:endParaRPr lang="en-US" dirty="0">
              <a:solidFill>
                <a:schemeClr val="accent3">
                  <a:lumMod val="50000"/>
                </a:schemeClr>
              </a:solidFill>
              <a:latin typeface="Arial Black" pitchFamily="34" charset="0"/>
            </a:endParaRPr>
          </a:p>
        </p:txBody>
      </p:sp>
      <p:sp>
        <p:nvSpPr>
          <p:cNvPr id="3" name="Subtitle 2"/>
          <p:cNvSpPr>
            <a:spLocks noGrp="1"/>
          </p:cNvSpPr>
          <p:nvPr>
            <p:ph type="subTitle" idx="1"/>
          </p:nvPr>
        </p:nvSpPr>
        <p:spPr>
          <a:xfrm>
            <a:off x="762000" y="2667000"/>
            <a:ext cx="7543800" cy="1752600"/>
          </a:xfrm>
        </p:spPr>
        <p:txBody>
          <a:bodyPr>
            <a:normAutofit/>
          </a:bodyPr>
          <a:lstStyle/>
          <a:p>
            <a:r>
              <a:rPr lang="en-US" sz="4800" b="1" dirty="0">
                <a:solidFill>
                  <a:srgbClr val="FF0000"/>
                </a:solidFill>
              </a:rPr>
              <a:t>Exploratory Data </a:t>
            </a:r>
            <a:r>
              <a:rPr lang="en-US" sz="4800" b="1" dirty="0" smtClean="0">
                <a:solidFill>
                  <a:srgbClr val="FF0000"/>
                </a:solidFill>
              </a:rPr>
              <a:t>Analysis</a:t>
            </a:r>
          </a:p>
          <a:p>
            <a:r>
              <a:rPr lang="en-US" sz="4800" b="1" dirty="0" smtClean="0">
                <a:solidFill>
                  <a:schemeClr val="accent3">
                    <a:lumMod val="50000"/>
                  </a:schemeClr>
                </a:solidFill>
              </a:rPr>
              <a:t>Hotel Booking Analysis</a:t>
            </a:r>
            <a:endParaRPr lang="en-US" sz="4800" dirty="0">
              <a:solidFill>
                <a:schemeClr val="accent3">
                  <a:lumMod val="50000"/>
                </a:schemeClr>
              </a:solidFill>
            </a:endParaRPr>
          </a:p>
        </p:txBody>
      </p:sp>
      <p:sp>
        <p:nvSpPr>
          <p:cNvPr id="4" name="TextBox 3"/>
          <p:cNvSpPr txBox="1"/>
          <p:nvPr/>
        </p:nvSpPr>
        <p:spPr>
          <a:xfrm>
            <a:off x="5334000" y="4800600"/>
            <a:ext cx="3048000" cy="954107"/>
          </a:xfrm>
          <a:prstGeom prst="rect">
            <a:avLst/>
          </a:prstGeom>
          <a:noFill/>
        </p:spPr>
        <p:txBody>
          <a:bodyPr wrap="square" rtlCol="0">
            <a:spAutoFit/>
          </a:bodyPr>
          <a:lstStyle/>
          <a:p>
            <a:r>
              <a:rPr lang="en-US" sz="2800" b="1" i="1" dirty="0" smtClean="0">
                <a:solidFill>
                  <a:schemeClr val="accent6">
                    <a:lumMod val="75000"/>
                  </a:schemeClr>
                </a:solidFill>
              </a:rPr>
              <a:t>By,</a:t>
            </a:r>
          </a:p>
          <a:p>
            <a:r>
              <a:rPr lang="en-US" sz="2800" b="1" i="1" dirty="0" smtClean="0">
                <a:solidFill>
                  <a:schemeClr val="accent6">
                    <a:lumMod val="75000"/>
                  </a:schemeClr>
                </a:solidFill>
              </a:rPr>
              <a:t>Shafiq Abubacker</a:t>
            </a:r>
            <a:endParaRPr lang="en-US" sz="2800" b="1" i="1" dirty="0">
              <a:solidFill>
                <a:schemeClr val="accent6">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b="1" dirty="0" smtClean="0">
                <a:solidFill>
                  <a:schemeClr val="accent2">
                    <a:lumMod val="75000"/>
                  </a:schemeClr>
                </a:solidFill>
              </a:rPr>
              <a:t>Problem Statement</a:t>
            </a:r>
            <a:endParaRPr lang="en-US" b="1" dirty="0">
              <a:solidFill>
                <a:schemeClr val="accent2">
                  <a:lumMod val="75000"/>
                </a:schemeClr>
              </a:solidFill>
            </a:endParaRPr>
          </a:p>
        </p:txBody>
      </p:sp>
      <p:sp>
        <p:nvSpPr>
          <p:cNvPr id="3" name="Content Placeholder 2"/>
          <p:cNvSpPr>
            <a:spLocks noGrp="1"/>
          </p:cNvSpPr>
          <p:nvPr>
            <p:ph idx="1"/>
          </p:nvPr>
        </p:nvSpPr>
        <p:spPr>
          <a:xfrm>
            <a:off x="457200" y="1371600"/>
            <a:ext cx="8229600" cy="4754563"/>
          </a:xfrm>
        </p:spPr>
        <p:txBody>
          <a:bodyPr>
            <a:normAutofit fontScale="85000" lnSpcReduction="20000"/>
          </a:bodyPr>
          <a:lstStyle/>
          <a:p>
            <a:r>
              <a:rPr lang="en-US" dirty="0"/>
              <a:t>In this project, we will conduct an analysis on hotel booking data, encompassing information related to reservations for both a city hotel and a resort hotel. </a:t>
            </a:r>
            <a:endParaRPr lang="en-US" dirty="0" smtClean="0"/>
          </a:p>
          <a:p>
            <a:endParaRPr lang="en-US" dirty="0" smtClean="0"/>
          </a:p>
          <a:p>
            <a:r>
              <a:rPr lang="en-US" dirty="0" smtClean="0"/>
              <a:t>The </a:t>
            </a:r>
            <a:r>
              <a:rPr lang="en-US" dirty="0"/>
              <a:t>dataset comprises details such as the booking date, duration of stay, the count of adults, children, and/or babies, as well as the availability of parking spaces</a:t>
            </a:r>
            <a:r>
              <a:rPr lang="en-US" dirty="0" smtClean="0"/>
              <a:t>.</a:t>
            </a:r>
          </a:p>
          <a:p>
            <a:pPr>
              <a:buNone/>
            </a:pPr>
            <a:endParaRPr lang="en-US" dirty="0"/>
          </a:p>
          <a:p>
            <a:r>
              <a:rPr lang="en-US" dirty="0"/>
              <a:t>The hotel booking dataset presents an excellent opportunity to explore various questions related to booking patterns, optimal stay durations, and factors influencing special requests.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75000"/>
                  </a:schemeClr>
                </a:solidFill>
              </a:rPr>
              <a:t>Business Context</a:t>
            </a:r>
            <a:endParaRPr lang="en-US" b="1" dirty="0">
              <a:solidFill>
                <a:schemeClr val="accent2">
                  <a:lumMod val="75000"/>
                </a:schemeClr>
              </a:solidFill>
            </a:endParaRPr>
          </a:p>
        </p:txBody>
      </p:sp>
      <p:sp>
        <p:nvSpPr>
          <p:cNvPr id="3" name="Content Placeholder 2"/>
          <p:cNvSpPr>
            <a:spLocks noGrp="1"/>
          </p:cNvSpPr>
          <p:nvPr>
            <p:ph idx="1"/>
          </p:nvPr>
        </p:nvSpPr>
        <p:spPr>
          <a:xfrm>
            <a:off x="457200" y="1143000"/>
            <a:ext cx="8229600" cy="4983163"/>
          </a:xfrm>
        </p:spPr>
        <p:txBody>
          <a:bodyPr>
            <a:normAutofit fontScale="40000" lnSpcReduction="20000"/>
          </a:bodyPr>
          <a:lstStyle/>
          <a:p>
            <a:pPr>
              <a:buNone/>
            </a:pPr>
            <a:endParaRPr lang="en-US" dirty="0" smtClean="0"/>
          </a:p>
          <a:p>
            <a:pPr>
              <a:buNone/>
            </a:pPr>
            <a:r>
              <a:rPr lang="en-US" dirty="0" smtClean="0"/>
              <a:t>The </a:t>
            </a:r>
            <a:r>
              <a:rPr lang="en-US" dirty="0"/>
              <a:t>Hotel Booking Analysis </a:t>
            </a:r>
            <a:r>
              <a:rPr lang="en-US" dirty="0" smtClean="0"/>
              <a:t>project </a:t>
            </a:r>
            <a:r>
              <a:rPr lang="en-US" dirty="0"/>
              <a:t>is undertaken within the context of the competitive and dynamic hotel industry. </a:t>
            </a:r>
            <a:endParaRPr lang="en-US" dirty="0" smtClean="0"/>
          </a:p>
          <a:p>
            <a:pPr>
              <a:buNone/>
            </a:pPr>
            <a:r>
              <a:rPr lang="en-US" dirty="0" smtClean="0"/>
              <a:t>As hotels </a:t>
            </a:r>
            <a:r>
              <a:rPr lang="en-US" dirty="0"/>
              <a:t>continually navigate the challenges of fluctuating demand, varying customer preferences, and the </a:t>
            </a:r>
            <a:r>
              <a:rPr lang="en-US" dirty="0" smtClean="0"/>
              <a:t>potential</a:t>
            </a:r>
          </a:p>
          <a:p>
            <a:pPr>
              <a:buNone/>
            </a:pPr>
            <a:r>
              <a:rPr lang="en-US" dirty="0" smtClean="0"/>
              <a:t>for </a:t>
            </a:r>
            <a:r>
              <a:rPr lang="en-US" dirty="0"/>
              <a:t>booking cancellations, this project seeks to provide valuable insights through a comprehensive examination of </a:t>
            </a:r>
            <a:r>
              <a:rPr lang="en-US" dirty="0" smtClean="0"/>
              <a:t>the</a:t>
            </a:r>
          </a:p>
          <a:p>
            <a:pPr>
              <a:buNone/>
            </a:pPr>
            <a:r>
              <a:rPr lang="en-US" dirty="0" smtClean="0"/>
              <a:t>provided </a:t>
            </a:r>
            <a:r>
              <a:rPr lang="en-US" dirty="0"/>
              <a:t>dataset</a:t>
            </a:r>
            <a:r>
              <a:rPr lang="en-US" dirty="0" smtClean="0"/>
              <a:t>.</a:t>
            </a:r>
          </a:p>
          <a:p>
            <a:endParaRPr lang="en-US" dirty="0"/>
          </a:p>
          <a:p>
            <a:r>
              <a:rPr lang="en-US" b="1" dirty="0"/>
              <a:t>Customer-Centric Decision Making:</a:t>
            </a:r>
            <a:endParaRPr lang="en-US" dirty="0"/>
          </a:p>
          <a:p>
            <a:pPr lvl="1"/>
            <a:r>
              <a:rPr lang="en-US" dirty="0"/>
              <a:t>Understanding booking patterns and customer behavior is crucial for hotels striving to offer tailored services and enhance the overall guest experience.</a:t>
            </a:r>
          </a:p>
          <a:p>
            <a:pPr lvl="1"/>
            <a:r>
              <a:rPr lang="en-US" dirty="0"/>
              <a:t>Unraveling factors influencing booking decisions allows hotels to align their strategies with customer preferences.</a:t>
            </a:r>
          </a:p>
          <a:p>
            <a:r>
              <a:rPr lang="en-US" b="1" dirty="0"/>
              <a:t>Optimizing Operational Efficiency:</a:t>
            </a:r>
            <a:endParaRPr lang="en-US" dirty="0"/>
          </a:p>
          <a:p>
            <a:pPr lvl="1"/>
            <a:r>
              <a:rPr lang="en-US" dirty="0"/>
              <a:t>By analyzing trends in booking lead times, the project aims to assist hotels in optimizing their operations, potentially reducing costs and improving resource utilization.</a:t>
            </a:r>
          </a:p>
          <a:p>
            <a:pPr lvl="1"/>
            <a:r>
              <a:rPr lang="en-US" dirty="0"/>
              <a:t>Insights into seasonality and stay length correlations contribute to effective capacity planning.</a:t>
            </a:r>
          </a:p>
          <a:p>
            <a:r>
              <a:rPr lang="en-US" b="1" dirty="0"/>
              <a:t>Risk Mitigation through Cancellation Analysis:</a:t>
            </a:r>
            <a:endParaRPr lang="en-US" dirty="0"/>
          </a:p>
          <a:p>
            <a:pPr lvl="1"/>
            <a:r>
              <a:rPr lang="en-US" dirty="0"/>
              <a:t>Cancellations can significantly impact revenue and resource allocation. Examining the impact of booking lead time on cancellations provides insights into potential risk mitigation strategies.</a:t>
            </a:r>
          </a:p>
          <a:p>
            <a:pPr lvl="1"/>
            <a:r>
              <a:rPr lang="en-US" dirty="0"/>
              <a:t>Understanding the dynamics of cancellations helps hotels implement policies to minimize revenue loss.</a:t>
            </a:r>
          </a:p>
          <a:p>
            <a:r>
              <a:rPr lang="en-US" b="1" dirty="0"/>
              <a:t>Strategic Forecasting and Planning:</a:t>
            </a:r>
            <a:endParaRPr lang="en-US" dirty="0"/>
          </a:p>
          <a:p>
            <a:pPr lvl="1"/>
            <a:r>
              <a:rPr lang="en-US" dirty="0"/>
              <a:t>The ultimate goal of the project is to equip hotels with predictive insights. By uncovering trends and patterns, the analysis aids in forecasting future bookings, enabling proactive planning and resource allocation.</a:t>
            </a:r>
          </a:p>
          <a:p>
            <a:pPr lvl="1"/>
            <a:r>
              <a:rPr lang="en-US" dirty="0"/>
              <a:t>Multivariate analysis delves into the complex interactions between various factors, providing a holistic view for strategic decision-making.</a:t>
            </a:r>
          </a:p>
          <a:p>
            <a:r>
              <a:rPr lang="en-US" b="1" dirty="0"/>
              <a:t>Competitive Edge:</a:t>
            </a:r>
            <a:endParaRPr lang="en-US" dirty="0"/>
          </a:p>
          <a:p>
            <a:pPr lvl="1"/>
            <a:r>
              <a:rPr lang="en-US" dirty="0"/>
              <a:t>In the highly competitive hotel industry, staying ahead requires a deep understanding of customer preferences and market dynamics. This project aims to provide a competitive edge by offering actionable insights derived from robust exploratory data analysis.</a:t>
            </a:r>
          </a:p>
          <a:p>
            <a:endParaRPr lang="en-US" dirty="0" smtClean="0"/>
          </a:p>
          <a:p>
            <a:endParaRPr lang="en-US" dirty="0"/>
          </a:p>
          <a:p>
            <a:endParaRPr lang="en-US" dirty="0" smtClean="0"/>
          </a:p>
          <a:p>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15962"/>
          </a:xfrm>
        </p:spPr>
        <p:txBody>
          <a:bodyPr>
            <a:normAutofit fontScale="90000"/>
          </a:bodyPr>
          <a:lstStyle/>
          <a:p>
            <a:r>
              <a:rPr lang="en-US" b="1" dirty="0" smtClean="0">
                <a:solidFill>
                  <a:schemeClr val="accent2">
                    <a:lumMod val="75000"/>
                  </a:schemeClr>
                </a:solidFill>
              </a:rPr>
              <a:t>Data Understanding</a:t>
            </a:r>
            <a:endParaRPr lang="en-US" b="1" dirty="0">
              <a:solidFill>
                <a:schemeClr val="accent2">
                  <a:lumMod val="75000"/>
                </a:schemeClr>
              </a:solidFill>
            </a:endParaRPr>
          </a:p>
        </p:txBody>
      </p:sp>
      <p:sp>
        <p:nvSpPr>
          <p:cNvPr id="3" name="Content Placeholder 2"/>
          <p:cNvSpPr>
            <a:spLocks noGrp="1"/>
          </p:cNvSpPr>
          <p:nvPr>
            <p:ph idx="1"/>
          </p:nvPr>
        </p:nvSpPr>
        <p:spPr>
          <a:xfrm>
            <a:off x="457200" y="914400"/>
            <a:ext cx="8229600" cy="5486400"/>
          </a:xfrm>
        </p:spPr>
        <p:txBody>
          <a:bodyPr>
            <a:normAutofit fontScale="25000" lnSpcReduction="20000"/>
          </a:bodyPr>
          <a:lstStyle/>
          <a:p>
            <a:pPr>
              <a:buNone/>
            </a:pPr>
            <a:r>
              <a:rPr lang="en-US" sz="4000" dirty="0"/>
              <a:t>The dataset for the Hotel Booking Analysis project consists of </a:t>
            </a:r>
            <a:r>
              <a:rPr lang="en-US" sz="4000" b="1" dirty="0"/>
              <a:t>119,390</a:t>
            </a:r>
            <a:r>
              <a:rPr lang="en-US" sz="4000" dirty="0"/>
              <a:t> rows and </a:t>
            </a:r>
            <a:r>
              <a:rPr lang="en-US" sz="4000" b="1" dirty="0"/>
              <a:t>32</a:t>
            </a:r>
            <a:r>
              <a:rPr lang="en-US" sz="4000" dirty="0"/>
              <a:t> columns. Post data collection, a comprehensive understanding of </a:t>
            </a:r>
            <a:r>
              <a:rPr lang="en-US" sz="4000" dirty="0" smtClean="0"/>
              <a:t>these </a:t>
            </a:r>
          </a:p>
          <a:p>
            <a:pPr>
              <a:buNone/>
            </a:pPr>
            <a:r>
              <a:rPr lang="en-US" sz="4000" dirty="0" smtClean="0"/>
              <a:t>32 </a:t>
            </a:r>
            <a:r>
              <a:rPr lang="en-US" sz="4000" dirty="0"/>
              <a:t>columns is imperative for </a:t>
            </a:r>
            <a:r>
              <a:rPr lang="en-US" sz="4000"/>
              <a:t>a </a:t>
            </a:r>
            <a:r>
              <a:rPr lang="en-US" sz="4000" smtClean="0"/>
              <a:t>nuanced analysis </a:t>
            </a:r>
            <a:r>
              <a:rPr lang="en-US" sz="4000" dirty="0"/>
              <a:t>and interpretation of the information encapsulated within the dataset</a:t>
            </a:r>
            <a:r>
              <a:rPr lang="en-US" sz="4000" dirty="0" smtClean="0"/>
              <a:t>.</a:t>
            </a:r>
          </a:p>
          <a:p>
            <a:endParaRPr lang="en-US" sz="4000" dirty="0"/>
          </a:p>
          <a:p>
            <a:pPr>
              <a:buNone/>
            </a:pPr>
            <a:r>
              <a:rPr lang="en-US" sz="4000" b="1" dirty="0">
                <a:solidFill>
                  <a:srgbClr val="FF0000"/>
                </a:solidFill>
              </a:rPr>
              <a:t>Data Description:</a:t>
            </a:r>
          </a:p>
          <a:p>
            <a:r>
              <a:rPr lang="en-US" sz="4000" b="1" dirty="0"/>
              <a:t>hotel </a:t>
            </a:r>
            <a:r>
              <a:rPr lang="en-US" sz="4000" dirty="0"/>
              <a:t>:Resort Hotel or City Hotel</a:t>
            </a:r>
          </a:p>
          <a:p>
            <a:r>
              <a:rPr lang="en-US" sz="4000" b="1" dirty="0" err="1"/>
              <a:t>is_canceled</a:t>
            </a:r>
            <a:r>
              <a:rPr lang="en-US" sz="4000" b="1" dirty="0"/>
              <a:t> </a:t>
            </a:r>
            <a:r>
              <a:rPr lang="en-US" sz="4000" dirty="0"/>
              <a:t>: Value indicating if the booking was canceled (1) or not (0)</a:t>
            </a:r>
          </a:p>
          <a:p>
            <a:r>
              <a:rPr lang="en-US" sz="4000" b="1" dirty="0" err="1"/>
              <a:t>lead_time</a:t>
            </a:r>
            <a:r>
              <a:rPr lang="en-US" sz="4000" b="1" dirty="0"/>
              <a:t> </a:t>
            </a:r>
            <a:r>
              <a:rPr lang="en-US" sz="4000" dirty="0"/>
              <a:t>: Number of days that elapsed between the entering date of the booking and the arrival date</a:t>
            </a:r>
          </a:p>
          <a:p>
            <a:r>
              <a:rPr lang="en-US" sz="4000" b="1" dirty="0" err="1"/>
              <a:t>arrival_date_year</a:t>
            </a:r>
            <a:r>
              <a:rPr lang="en-US" sz="4000" b="1" dirty="0"/>
              <a:t> </a:t>
            </a:r>
            <a:r>
              <a:rPr lang="en-US" sz="4000" dirty="0"/>
              <a:t>: Year of arrival date</a:t>
            </a:r>
          </a:p>
          <a:p>
            <a:r>
              <a:rPr lang="en-US" sz="4000" b="1" dirty="0" err="1"/>
              <a:t>arrival_date_month</a:t>
            </a:r>
            <a:r>
              <a:rPr lang="en-US" sz="4000" b="1" dirty="0"/>
              <a:t> </a:t>
            </a:r>
            <a:r>
              <a:rPr lang="en-US" sz="4000" dirty="0"/>
              <a:t>: Month of arrival date </a:t>
            </a:r>
            <a:endParaRPr lang="en-US" sz="4000" dirty="0" smtClean="0"/>
          </a:p>
          <a:p>
            <a:r>
              <a:rPr lang="en-US" sz="4000" b="1" dirty="0" err="1" smtClean="0"/>
              <a:t>arrival_date_week_number</a:t>
            </a:r>
            <a:r>
              <a:rPr lang="en-US" sz="4000" b="1" dirty="0" smtClean="0"/>
              <a:t> </a:t>
            </a:r>
            <a:r>
              <a:rPr lang="en-US" sz="4000" dirty="0"/>
              <a:t>: Week number of year for arrival date </a:t>
            </a:r>
            <a:endParaRPr lang="en-US" sz="4000" dirty="0" smtClean="0"/>
          </a:p>
          <a:p>
            <a:r>
              <a:rPr lang="en-US" sz="4000" b="1" dirty="0" err="1" smtClean="0"/>
              <a:t>arrival_date_day_of_month</a:t>
            </a:r>
            <a:r>
              <a:rPr lang="en-US" sz="4000" b="1" dirty="0" smtClean="0"/>
              <a:t> </a:t>
            </a:r>
            <a:r>
              <a:rPr lang="en-US" sz="4000" dirty="0"/>
              <a:t>: Day of arrival date </a:t>
            </a:r>
            <a:endParaRPr lang="en-US" sz="4000" dirty="0" smtClean="0"/>
          </a:p>
          <a:p>
            <a:r>
              <a:rPr lang="en-US" sz="4000" b="1" dirty="0" err="1" smtClean="0"/>
              <a:t>stays_in_weekend_nights</a:t>
            </a:r>
            <a:r>
              <a:rPr lang="en-US" sz="4000" b="1" dirty="0" smtClean="0"/>
              <a:t> </a:t>
            </a:r>
            <a:r>
              <a:rPr lang="en-US" sz="4000" dirty="0"/>
              <a:t>: Number of weekend nights </a:t>
            </a:r>
            <a:endParaRPr lang="en-US" sz="4000" dirty="0" smtClean="0"/>
          </a:p>
          <a:p>
            <a:r>
              <a:rPr lang="en-US" sz="4000" b="1" dirty="0" err="1" smtClean="0"/>
              <a:t>stays_in_week_nights</a:t>
            </a:r>
            <a:r>
              <a:rPr lang="en-US" sz="4000" b="1" dirty="0" smtClean="0"/>
              <a:t> </a:t>
            </a:r>
            <a:r>
              <a:rPr lang="en-US" sz="4000" dirty="0"/>
              <a:t>: Number of week nights.</a:t>
            </a:r>
          </a:p>
          <a:p>
            <a:r>
              <a:rPr lang="en-US" sz="4000" b="1" dirty="0"/>
              <a:t>adults </a:t>
            </a:r>
            <a:r>
              <a:rPr lang="en-US" sz="4000" dirty="0"/>
              <a:t>: Number of adults </a:t>
            </a:r>
            <a:r>
              <a:rPr lang="en-US" sz="4000" b="1" dirty="0"/>
              <a:t>children </a:t>
            </a:r>
            <a:r>
              <a:rPr lang="en-US" sz="4000" dirty="0"/>
              <a:t>: Number of children </a:t>
            </a:r>
            <a:endParaRPr lang="en-US" sz="4000" dirty="0" smtClean="0"/>
          </a:p>
          <a:p>
            <a:r>
              <a:rPr lang="en-US" sz="4000" b="1" dirty="0" smtClean="0"/>
              <a:t>babies </a:t>
            </a:r>
            <a:r>
              <a:rPr lang="en-US" sz="4000" dirty="0"/>
              <a:t>: Number of babies </a:t>
            </a:r>
            <a:r>
              <a:rPr lang="en-US" sz="4000" b="1" dirty="0"/>
              <a:t>meal </a:t>
            </a:r>
            <a:r>
              <a:rPr lang="en-US" sz="4000" dirty="0"/>
              <a:t>: Type of meal booked. </a:t>
            </a:r>
            <a:endParaRPr lang="en-US" sz="4000" dirty="0" smtClean="0"/>
          </a:p>
          <a:p>
            <a:r>
              <a:rPr lang="en-US" sz="4000" b="1" dirty="0" smtClean="0"/>
              <a:t>country </a:t>
            </a:r>
            <a:r>
              <a:rPr lang="en-US" sz="4000" dirty="0"/>
              <a:t>: Country of origin</a:t>
            </a:r>
            <a:r>
              <a:rPr lang="en-US" sz="4000" dirty="0" smtClean="0"/>
              <a:t>.</a:t>
            </a:r>
            <a:endParaRPr lang="en-US" sz="4000" dirty="0"/>
          </a:p>
          <a:p>
            <a:r>
              <a:rPr lang="en-US" sz="4000" b="1" dirty="0" err="1"/>
              <a:t>market_segment</a:t>
            </a:r>
            <a:r>
              <a:rPr lang="en-US" sz="4000" b="1" dirty="0"/>
              <a:t> </a:t>
            </a:r>
            <a:r>
              <a:rPr lang="en-US" sz="4000" dirty="0"/>
              <a:t>: Market segment designation. (TA/TO) </a:t>
            </a:r>
            <a:endParaRPr lang="en-US" sz="4000" dirty="0" smtClean="0"/>
          </a:p>
          <a:p>
            <a:r>
              <a:rPr lang="en-US" sz="4000" b="1" dirty="0" err="1" smtClean="0"/>
              <a:t>distribution_channel</a:t>
            </a:r>
            <a:r>
              <a:rPr lang="en-US" sz="4000" b="1" dirty="0" smtClean="0"/>
              <a:t> </a:t>
            </a:r>
            <a:r>
              <a:rPr lang="en-US" sz="4000" dirty="0"/>
              <a:t>: Booking distribution channel.(T/A/TO) </a:t>
            </a:r>
            <a:endParaRPr lang="en-US" sz="4000" dirty="0" smtClean="0"/>
          </a:p>
          <a:p>
            <a:r>
              <a:rPr lang="en-US" sz="4000" b="1" dirty="0" err="1" smtClean="0"/>
              <a:t>is_repeated_guest</a:t>
            </a:r>
            <a:r>
              <a:rPr lang="en-US" sz="4000" b="1" dirty="0" smtClean="0"/>
              <a:t> </a:t>
            </a:r>
            <a:r>
              <a:rPr lang="en-US" sz="4000" dirty="0"/>
              <a:t>: is a repeated guest (1) or not (0)</a:t>
            </a:r>
          </a:p>
          <a:p>
            <a:r>
              <a:rPr lang="en-US" sz="4000" b="1" dirty="0" err="1"/>
              <a:t>previous_cancellations</a:t>
            </a:r>
            <a:r>
              <a:rPr lang="en-US" sz="4000" b="1" dirty="0"/>
              <a:t> </a:t>
            </a:r>
            <a:r>
              <a:rPr lang="en-US" sz="4000" dirty="0"/>
              <a:t>: Number of previous bookings that were cancelled by the customer prior to the current booking</a:t>
            </a:r>
          </a:p>
          <a:p>
            <a:r>
              <a:rPr lang="en-US" sz="4000" b="1" dirty="0" err="1"/>
              <a:t>previous_bookings_not_canceled</a:t>
            </a:r>
            <a:r>
              <a:rPr lang="en-US" sz="4000" b="1" dirty="0"/>
              <a:t> </a:t>
            </a:r>
            <a:r>
              <a:rPr lang="en-US" sz="4000" dirty="0"/>
              <a:t>: Number of previous bookings not cancelled by the customer prior to the current</a:t>
            </a:r>
          </a:p>
          <a:p>
            <a:r>
              <a:rPr lang="en-US" sz="4000" dirty="0"/>
              <a:t>booking</a:t>
            </a:r>
          </a:p>
          <a:p>
            <a:r>
              <a:rPr lang="en-US" sz="4000" b="1" dirty="0" err="1"/>
              <a:t>reserved_room_type</a:t>
            </a:r>
            <a:r>
              <a:rPr lang="en-US" sz="4000" b="1" dirty="0"/>
              <a:t> </a:t>
            </a:r>
            <a:r>
              <a:rPr lang="en-US" sz="4000" dirty="0"/>
              <a:t>: Code of room type reserved.</a:t>
            </a:r>
          </a:p>
          <a:p>
            <a:r>
              <a:rPr lang="en-US" sz="4000" b="1" dirty="0" err="1"/>
              <a:t>assigned_room_type</a:t>
            </a:r>
            <a:r>
              <a:rPr lang="en-US" sz="4000" b="1" dirty="0"/>
              <a:t> </a:t>
            </a:r>
            <a:r>
              <a:rPr lang="en-US" sz="4000" dirty="0"/>
              <a:t>: Code for the type of room assigned to the booking.</a:t>
            </a:r>
          </a:p>
          <a:p>
            <a:r>
              <a:rPr lang="en-US" sz="4000" b="1" dirty="0" err="1"/>
              <a:t>booking_changes</a:t>
            </a:r>
            <a:r>
              <a:rPr lang="en-US" sz="4000" b="1" dirty="0"/>
              <a:t> </a:t>
            </a:r>
            <a:r>
              <a:rPr lang="en-US" sz="4000" dirty="0"/>
              <a:t>: Number of changes made to the booking from the moment the booking was entered on the</a:t>
            </a:r>
          </a:p>
          <a:p>
            <a:r>
              <a:rPr lang="en-US" sz="4000" dirty="0"/>
              <a:t>PMS until the moment of check-in or cancellation </a:t>
            </a:r>
            <a:endParaRPr lang="en-US" sz="4000" dirty="0" smtClean="0"/>
          </a:p>
          <a:p>
            <a:r>
              <a:rPr lang="en-US" sz="4000" b="1" dirty="0" err="1" smtClean="0"/>
              <a:t>deposit_type</a:t>
            </a:r>
            <a:r>
              <a:rPr lang="en-US" sz="4000" b="1" dirty="0" smtClean="0"/>
              <a:t> </a:t>
            </a:r>
            <a:r>
              <a:rPr lang="en-US" sz="4000" dirty="0"/>
              <a:t>: No Deposit, Non Refund , Refundable. </a:t>
            </a:r>
            <a:endParaRPr lang="en-US" sz="4000" dirty="0" smtClean="0"/>
          </a:p>
          <a:p>
            <a:r>
              <a:rPr lang="en-US" sz="4000" b="1" dirty="0" smtClean="0"/>
              <a:t>agent </a:t>
            </a:r>
            <a:r>
              <a:rPr lang="en-US" sz="4000" dirty="0"/>
              <a:t>: ID of the travel agency that made the booking</a:t>
            </a:r>
          </a:p>
          <a:p>
            <a:r>
              <a:rPr lang="en-US" sz="4000" b="1" dirty="0"/>
              <a:t>company </a:t>
            </a:r>
            <a:r>
              <a:rPr lang="en-US" sz="4000" dirty="0"/>
              <a:t>: ID of the company/entity that made the booking .</a:t>
            </a:r>
          </a:p>
          <a:p>
            <a:r>
              <a:rPr lang="en-US" sz="4000" b="1" dirty="0" err="1"/>
              <a:t>days_in_waiting_list</a:t>
            </a:r>
            <a:r>
              <a:rPr lang="en-US" sz="4000" b="1" dirty="0"/>
              <a:t> </a:t>
            </a:r>
            <a:r>
              <a:rPr lang="en-US" sz="4000" dirty="0"/>
              <a:t>: Number of days the booking was in the waiting list before it was confirmed to the customer</a:t>
            </a:r>
          </a:p>
          <a:p>
            <a:r>
              <a:rPr lang="en-US" sz="4000" b="1" dirty="0" err="1"/>
              <a:t>customer_type</a:t>
            </a:r>
            <a:r>
              <a:rPr lang="en-US" sz="4000" b="1" dirty="0"/>
              <a:t> </a:t>
            </a:r>
            <a:r>
              <a:rPr lang="en-US" sz="4000" dirty="0"/>
              <a:t>: type of customer. </a:t>
            </a:r>
            <a:r>
              <a:rPr lang="en-US" sz="4000" dirty="0" err="1"/>
              <a:t>Contract,Group,transient,Transient</a:t>
            </a:r>
            <a:r>
              <a:rPr lang="en-US" sz="4000" dirty="0"/>
              <a:t> party.</a:t>
            </a:r>
          </a:p>
          <a:p>
            <a:r>
              <a:rPr lang="en-US" sz="4000" b="1" dirty="0" err="1"/>
              <a:t>adr</a:t>
            </a:r>
            <a:r>
              <a:rPr lang="en-US" sz="4000" b="1" dirty="0"/>
              <a:t> </a:t>
            </a:r>
            <a:r>
              <a:rPr lang="en-US" sz="4000" dirty="0"/>
              <a:t>: Average Daily Rate as defined by dividing the sum of all lodging transactions by the total number of staying nights</a:t>
            </a:r>
          </a:p>
          <a:p>
            <a:r>
              <a:rPr lang="en-US" sz="4000" b="1" dirty="0" err="1"/>
              <a:t>required_car_parking_spaces</a:t>
            </a:r>
            <a:r>
              <a:rPr lang="en-US" sz="4000" b="1" dirty="0"/>
              <a:t> </a:t>
            </a:r>
            <a:r>
              <a:rPr lang="en-US" sz="4000" dirty="0"/>
              <a:t>: Number of car parking spaces required by the customer </a:t>
            </a:r>
            <a:endParaRPr lang="en-US" sz="4000" dirty="0" smtClean="0"/>
          </a:p>
          <a:p>
            <a:r>
              <a:rPr lang="en-US" sz="4000" b="1" dirty="0" err="1" smtClean="0"/>
              <a:t>total_of_special_requests</a:t>
            </a:r>
            <a:r>
              <a:rPr lang="en-US" sz="4000" b="1" dirty="0" smtClean="0"/>
              <a:t> </a:t>
            </a:r>
            <a:r>
              <a:rPr lang="en-US" sz="4000" dirty="0"/>
              <a:t>: Number of special requests made by the customer (e.g. twin bed or high floor) </a:t>
            </a:r>
            <a:endParaRPr lang="en-US" sz="4000" dirty="0" smtClean="0"/>
          </a:p>
          <a:p>
            <a:r>
              <a:rPr lang="en-US" sz="4000" b="1" dirty="0" err="1" smtClean="0"/>
              <a:t>reservation_status</a:t>
            </a:r>
            <a:r>
              <a:rPr lang="en-US" sz="4000" b="1" dirty="0" smtClean="0"/>
              <a:t> </a:t>
            </a:r>
            <a:r>
              <a:rPr lang="en-US" sz="4000" dirty="0"/>
              <a:t>: Reservation last status.</a:t>
            </a:r>
          </a:p>
          <a:p>
            <a:pPr>
              <a:buNone/>
            </a:pPr>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solidFill>
                  <a:schemeClr val="accent2">
                    <a:lumMod val="75000"/>
                  </a:schemeClr>
                </a:solidFill>
              </a:rPr>
              <a:t>Data loading and </a:t>
            </a:r>
            <a:r>
              <a:rPr lang="en-US" b="1" dirty="0" smtClean="0">
                <a:solidFill>
                  <a:schemeClr val="accent2">
                    <a:lumMod val="75000"/>
                  </a:schemeClr>
                </a:solidFill>
              </a:rPr>
              <a:t>cleanup</a:t>
            </a:r>
            <a:endParaRPr lang="en-US" b="1" dirty="0">
              <a:solidFill>
                <a:schemeClr val="accent2">
                  <a:lumMod val="75000"/>
                </a:schemeClr>
              </a:solidFill>
            </a:endParaRPr>
          </a:p>
        </p:txBody>
      </p:sp>
      <p:sp>
        <p:nvSpPr>
          <p:cNvPr id="5" name="TextBox 4"/>
          <p:cNvSpPr txBox="1"/>
          <p:nvPr/>
        </p:nvSpPr>
        <p:spPr>
          <a:xfrm>
            <a:off x="533400" y="990600"/>
            <a:ext cx="3276600" cy="307777"/>
          </a:xfrm>
          <a:prstGeom prst="rect">
            <a:avLst/>
          </a:prstGeom>
          <a:noFill/>
        </p:spPr>
        <p:txBody>
          <a:bodyPr wrap="square" rtlCol="0">
            <a:spAutoFit/>
          </a:bodyPr>
          <a:lstStyle/>
          <a:p>
            <a:r>
              <a:rPr lang="en-US" sz="1400" b="1" dirty="0" smtClean="0"/>
              <a:t>Load the Dataset using Google Drive</a:t>
            </a:r>
            <a:endParaRPr lang="en-US" sz="1400" b="1" dirty="0"/>
          </a:p>
        </p:txBody>
      </p:sp>
      <p:pic>
        <p:nvPicPr>
          <p:cNvPr id="1027" name="Picture 3"/>
          <p:cNvPicPr>
            <a:picLocks noChangeAspect="1" noChangeArrowheads="1"/>
          </p:cNvPicPr>
          <p:nvPr/>
        </p:nvPicPr>
        <p:blipFill>
          <a:blip r:embed="rId2"/>
          <a:srcRect/>
          <a:stretch>
            <a:fillRect/>
          </a:stretch>
        </p:blipFill>
        <p:spPr bwMode="auto">
          <a:xfrm>
            <a:off x="6172200" y="1219200"/>
            <a:ext cx="2876550" cy="1390650"/>
          </a:xfrm>
          <a:prstGeom prst="rect">
            <a:avLst/>
          </a:prstGeom>
          <a:noFill/>
          <a:ln w="9525">
            <a:noFill/>
            <a:miter lim="800000"/>
            <a:headEnd/>
            <a:tailEnd/>
          </a:ln>
          <a:effectLst/>
        </p:spPr>
      </p:pic>
      <p:sp>
        <p:nvSpPr>
          <p:cNvPr id="7" name="TextBox 6"/>
          <p:cNvSpPr txBox="1"/>
          <p:nvPr/>
        </p:nvSpPr>
        <p:spPr>
          <a:xfrm>
            <a:off x="6096000" y="914400"/>
            <a:ext cx="3048000" cy="338554"/>
          </a:xfrm>
          <a:prstGeom prst="rect">
            <a:avLst/>
          </a:prstGeom>
          <a:noFill/>
        </p:spPr>
        <p:txBody>
          <a:bodyPr wrap="square" rtlCol="0">
            <a:spAutoFit/>
          </a:bodyPr>
          <a:lstStyle/>
          <a:p>
            <a:r>
              <a:rPr lang="en-US" sz="1600" b="1" dirty="0" smtClean="0"/>
              <a:t>There are 31994 Duplicate values</a:t>
            </a:r>
            <a:endParaRPr lang="en-US" sz="1600" b="1" dirty="0"/>
          </a:p>
        </p:txBody>
      </p:sp>
      <p:sp>
        <p:nvSpPr>
          <p:cNvPr id="8" name="Down Arrow 7"/>
          <p:cNvSpPr/>
          <p:nvPr/>
        </p:nvSpPr>
        <p:spPr>
          <a:xfrm>
            <a:off x="7620000" y="2667000"/>
            <a:ext cx="3048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p:cNvPicPr>
            <a:picLocks noChangeAspect="1" noChangeArrowheads="1"/>
          </p:cNvPicPr>
          <p:nvPr/>
        </p:nvPicPr>
        <p:blipFill>
          <a:blip r:embed="rId3"/>
          <a:srcRect/>
          <a:stretch>
            <a:fillRect/>
          </a:stretch>
        </p:blipFill>
        <p:spPr bwMode="auto">
          <a:xfrm>
            <a:off x="5991225" y="3429000"/>
            <a:ext cx="3152775" cy="1076325"/>
          </a:xfrm>
          <a:prstGeom prst="rect">
            <a:avLst/>
          </a:prstGeom>
          <a:noFill/>
          <a:ln w="9525">
            <a:noFill/>
            <a:miter lim="800000"/>
            <a:headEnd/>
            <a:tailEnd/>
          </a:ln>
          <a:effectLst/>
        </p:spPr>
      </p:pic>
      <p:sp>
        <p:nvSpPr>
          <p:cNvPr id="13" name="TextBox 12"/>
          <p:cNvSpPr txBox="1"/>
          <p:nvPr/>
        </p:nvSpPr>
        <p:spPr>
          <a:xfrm>
            <a:off x="6096000" y="3124200"/>
            <a:ext cx="3048000" cy="338554"/>
          </a:xfrm>
          <a:prstGeom prst="rect">
            <a:avLst/>
          </a:prstGeom>
          <a:noFill/>
        </p:spPr>
        <p:txBody>
          <a:bodyPr wrap="square" rtlCol="0">
            <a:spAutoFit/>
          </a:bodyPr>
          <a:lstStyle/>
          <a:p>
            <a:r>
              <a:rPr lang="en-US" sz="1600" b="1" dirty="0" smtClean="0"/>
              <a:t>Remove 31994 Duplicate values</a:t>
            </a:r>
            <a:endParaRPr lang="en-US" sz="1600" b="1" dirty="0"/>
          </a:p>
        </p:txBody>
      </p:sp>
      <p:pic>
        <p:nvPicPr>
          <p:cNvPr id="1030" name="Picture 6"/>
          <p:cNvPicPr>
            <a:picLocks noChangeAspect="1" noChangeArrowheads="1"/>
          </p:cNvPicPr>
          <p:nvPr/>
        </p:nvPicPr>
        <p:blipFill>
          <a:blip r:embed="rId4"/>
          <a:srcRect/>
          <a:stretch>
            <a:fillRect/>
          </a:stretch>
        </p:blipFill>
        <p:spPr bwMode="auto">
          <a:xfrm>
            <a:off x="457200" y="3429000"/>
            <a:ext cx="2571750" cy="1905000"/>
          </a:xfrm>
          <a:prstGeom prst="rect">
            <a:avLst/>
          </a:prstGeom>
          <a:noFill/>
          <a:ln w="9525">
            <a:noFill/>
            <a:miter lim="800000"/>
            <a:headEnd/>
            <a:tailEnd/>
          </a:ln>
          <a:effectLst/>
        </p:spPr>
      </p:pic>
      <p:sp>
        <p:nvSpPr>
          <p:cNvPr id="16" name="TextBox 15"/>
          <p:cNvSpPr txBox="1"/>
          <p:nvPr/>
        </p:nvSpPr>
        <p:spPr>
          <a:xfrm>
            <a:off x="304800" y="2971800"/>
            <a:ext cx="3276600" cy="523220"/>
          </a:xfrm>
          <a:prstGeom prst="rect">
            <a:avLst/>
          </a:prstGeom>
          <a:noFill/>
        </p:spPr>
        <p:txBody>
          <a:bodyPr wrap="square" rtlCol="0">
            <a:spAutoFit/>
          </a:bodyPr>
          <a:lstStyle/>
          <a:p>
            <a:r>
              <a:rPr lang="en-US" sz="1400" b="1" dirty="0" smtClean="0"/>
              <a:t>Company, </a:t>
            </a:r>
            <a:r>
              <a:rPr lang="en-US" sz="1400" b="1" dirty="0" err="1" smtClean="0"/>
              <a:t>Agent,country,children</a:t>
            </a:r>
            <a:r>
              <a:rPr lang="en-US" sz="1400" b="1" dirty="0" smtClean="0"/>
              <a:t> has Null Values</a:t>
            </a:r>
            <a:endParaRPr lang="en-US" sz="1400" b="1" dirty="0"/>
          </a:p>
        </p:txBody>
      </p:sp>
      <p:pic>
        <p:nvPicPr>
          <p:cNvPr id="1031" name="Picture 7"/>
          <p:cNvPicPr>
            <a:picLocks noGrp="1" noChangeAspect="1" noChangeArrowheads="1"/>
          </p:cNvPicPr>
          <p:nvPr>
            <p:ph idx="1"/>
          </p:nvPr>
        </p:nvPicPr>
        <p:blipFill>
          <a:blip r:embed="rId5"/>
          <a:srcRect/>
          <a:stretch>
            <a:fillRect/>
          </a:stretch>
        </p:blipFill>
        <p:spPr bwMode="auto">
          <a:xfrm>
            <a:off x="3352800" y="4191000"/>
            <a:ext cx="3095625" cy="1333500"/>
          </a:xfrm>
          <a:prstGeom prst="rect">
            <a:avLst/>
          </a:prstGeom>
          <a:noFill/>
          <a:ln w="9525">
            <a:noFill/>
            <a:miter lim="800000"/>
            <a:headEnd/>
            <a:tailEnd/>
          </a:ln>
          <a:effectLst/>
        </p:spPr>
      </p:pic>
      <p:sp>
        <p:nvSpPr>
          <p:cNvPr id="18" name="Right Arrow 17"/>
          <p:cNvSpPr/>
          <p:nvPr/>
        </p:nvSpPr>
        <p:spPr>
          <a:xfrm>
            <a:off x="3048000" y="45720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3" name="Picture 9"/>
          <p:cNvPicPr>
            <a:picLocks noChangeAspect="1" noChangeArrowheads="1"/>
          </p:cNvPicPr>
          <p:nvPr/>
        </p:nvPicPr>
        <p:blipFill>
          <a:blip r:embed="rId6"/>
          <a:srcRect/>
          <a:stretch>
            <a:fillRect/>
          </a:stretch>
        </p:blipFill>
        <p:spPr bwMode="auto">
          <a:xfrm>
            <a:off x="6477395" y="5181600"/>
            <a:ext cx="2666605" cy="1676400"/>
          </a:xfrm>
          <a:prstGeom prst="rect">
            <a:avLst/>
          </a:prstGeom>
          <a:noFill/>
          <a:ln w="9525">
            <a:noFill/>
            <a:miter lim="800000"/>
            <a:headEnd/>
            <a:tailEnd/>
          </a:ln>
          <a:effectLst/>
        </p:spPr>
      </p:pic>
      <p:cxnSp>
        <p:nvCxnSpPr>
          <p:cNvPr id="22" name="Straight Arrow Connector 21"/>
          <p:cNvCxnSpPr/>
          <p:nvPr/>
        </p:nvCxnSpPr>
        <p:spPr>
          <a:xfrm rot="16200000" flipH="1">
            <a:off x="6324600" y="5105400"/>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34" name="Picture 10"/>
          <p:cNvPicPr>
            <a:picLocks noChangeAspect="1" noChangeArrowheads="1"/>
          </p:cNvPicPr>
          <p:nvPr/>
        </p:nvPicPr>
        <p:blipFill>
          <a:blip r:embed="rId7"/>
          <a:srcRect/>
          <a:stretch>
            <a:fillRect/>
          </a:stretch>
        </p:blipFill>
        <p:spPr bwMode="auto">
          <a:xfrm>
            <a:off x="457200" y="1295400"/>
            <a:ext cx="3876675" cy="1562100"/>
          </a:xfrm>
          <a:prstGeom prst="rect">
            <a:avLst/>
          </a:prstGeom>
          <a:noFill/>
          <a:ln w="9525">
            <a:noFill/>
            <a:miter lim="800000"/>
            <a:headEnd/>
            <a:tailEnd/>
          </a:ln>
          <a:effectLst/>
        </p:spPr>
      </p:pic>
      <p:sp>
        <p:nvSpPr>
          <p:cNvPr id="24" name="TextBox 23"/>
          <p:cNvSpPr txBox="1"/>
          <p:nvPr/>
        </p:nvSpPr>
        <p:spPr>
          <a:xfrm>
            <a:off x="1143000" y="5867400"/>
            <a:ext cx="5105400" cy="646331"/>
          </a:xfrm>
          <a:prstGeom prst="rect">
            <a:avLst/>
          </a:prstGeom>
          <a:noFill/>
        </p:spPr>
        <p:txBody>
          <a:bodyPr wrap="square" rtlCol="0">
            <a:spAutoFit/>
          </a:bodyPr>
          <a:lstStyle/>
          <a:p>
            <a:r>
              <a:rPr lang="en-US" dirty="0" smtClean="0"/>
              <a:t>Replaced Null values with “0” for </a:t>
            </a:r>
            <a:r>
              <a:rPr lang="en-US" dirty="0" err="1" smtClean="0"/>
              <a:t>agent,children,company</a:t>
            </a:r>
            <a:r>
              <a:rPr lang="en-US" dirty="0" smtClean="0"/>
              <a:t> and country with “Others” </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solidFill>
                  <a:schemeClr val="accent2">
                    <a:lumMod val="75000"/>
                  </a:schemeClr>
                </a:solidFill>
              </a:rPr>
              <a:t>Exploratory Data Analysis</a:t>
            </a:r>
            <a:endParaRPr lang="en-US" dirty="0">
              <a:solidFill>
                <a:schemeClr val="accent2">
                  <a:lumMod val="75000"/>
                </a:schemeClr>
              </a:solidFill>
            </a:endParaRPr>
          </a:p>
        </p:txBody>
      </p:sp>
      <p:pic>
        <p:nvPicPr>
          <p:cNvPr id="2050" name="Picture 2"/>
          <p:cNvPicPr>
            <a:picLocks noChangeAspect="1" noChangeArrowheads="1"/>
          </p:cNvPicPr>
          <p:nvPr/>
        </p:nvPicPr>
        <p:blipFill>
          <a:blip r:embed="rId2"/>
          <a:srcRect/>
          <a:stretch>
            <a:fillRect/>
          </a:stretch>
        </p:blipFill>
        <p:spPr bwMode="auto">
          <a:xfrm>
            <a:off x="-1" y="1143000"/>
            <a:ext cx="2325757" cy="19812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0" y="4038600"/>
            <a:ext cx="2227829" cy="2133600"/>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4191000" y="1066800"/>
            <a:ext cx="2362200" cy="1905000"/>
          </a:xfrm>
          <a:prstGeom prst="rect">
            <a:avLst/>
          </a:prstGeom>
          <a:noFill/>
          <a:ln w="9525">
            <a:noFill/>
            <a:miter lim="800000"/>
            <a:headEnd/>
            <a:tailEnd/>
          </a:ln>
          <a:effectLst/>
        </p:spPr>
      </p:pic>
      <p:pic>
        <p:nvPicPr>
          <p:cNvPr id="2054" name="Picture 6"/>
          <p:cNvPicPr>
            <a:picLocks noChangeAspect="1" noChangeArrowheads="1"/>
          </p:cNvPicPr>
          <p:nvPr/>
        </p:nvPicPr>
        <p:blipFill>
          <a:blip r:embed="rId5"/>
          <a:srcRect/>
          <a:stretch>
            <a:fillRect/>
          </a:stretch>
        </p:blipFill>
        <p:spPr bwMode="auto">
          <a:xfrm>
            <a:off x="4267200" y="4114800"/>
            <a:ext cx="2447925" cy="2090717"/>
          </a:xfrm>
          <a:prstGeom prst="rect">
            <a:avLst/>
          </a:prstGeom>
          <a:noFill/>
          <a:ln w="9525">
            <a:noFill/>
            <a:miter lim="800000"/>
            <a:headEnd/>
            <a:tailEnd/>
          </a:ln>
          <a:effectLst/>
        </p:spPr>
      </p:pic>
      <p:sp>
        <p:nvSpPr>
          <p:cNvPr id="9" name="TextBox 8"/>
          <p:cNvSpPr txBox="1"/>
          <p:nvPr/>
        </p:nvSpPr>
        <p:spPr>
          <a:xfrm>
            <a:off x="2286000" y="1524000"/>
            <a:ext cx="1752600" cy="1446550"/>
          </a:xfrm>
          <a:prstGeom prst="rect">
            <a:avLst/>
          </a:prstGeom>
          <a:noFill/>
        </p:spPr>
        <p:txBody>
          <a:bodyPr wrap="square" rtlCol="0">
            <a:spAutoFit/>
          </a:bodyPr>
          <a:lstStyle/>
          <a:p>
            <a:r>
              <a:rPr lang="en-US" sz="1100" dirty="0" smtClean="0"/>
              <a:t>City Hotel is the most preferred Hotel for the guests</a:t>
            </a:r>
          </a:p>
          <a:p>
            <a:endParaRPr lang="en-US" sz="1100" dirty="0"/>
          </a:p>
          <a:p>
            <a:r>
              <a:rPr lang="en-US" sz="1100" b="1" dirty="0" smtClean="0"/>
              <a:t>Reasons:</a:t>
            </a:r>
          </a:p>
          <a:p>
            <a:pPr marL="228600" indent="-228600">
              <a:buAutoNum type="arabicPeriod"/>
            </a:pPr>
            <a:r>
              <a:rPr lang="en-US" sz="1100" dirty="0" smtClean="0"/>
              <a:t>Location Convenience</a:t>
            </a:r>
          </a:p>
          <a:p>
            <a:pPr marL="228600" indent="-228600">
              <a:buAutoNum type="arabicPeriod"/>
            </a:pPr>
            <a:r>
              <a:rPr lang="en-US" sz="1100" dirty="0" smtClean="0"/>
              <a:t>Brand Reputation</a:t>
            </a:r>
          </a:p>
          <a:p>
            <a:pPr marL="228600" indent="-228600">
              <a:buAutoNum type="arabicPeriod"/>
            </a:pPr>
            <a:r>
              <a:rPr lang="en-US" sz="1100" dirty="0" smtClean="0"/>
              <a:t>Tourist Attractions</a:t>
            </a:r>
            <a:endParaRPr lang="en-US" sz="1100" dirty="0"/>
          </a:p>
        </p:txBody>
      </p:sp>
      <p:sp>
        <p:nvSpPr>
          <p:cNvPr id="10" name="TextBox 9"/>
          <p:cNvSpPr txBox="1"/>
          <p:nvPr/>
        </p:nvSpPr>
        <p:spPr>
          <a:xfrm>
            <a:off x="2286000" y="4495800"/>
            <a:ext cx="1524000" cy="1615827"/>
          </a:xfrm>
          <a:prstGeom prst="rect">
            <a:avLst/>
          </a:prstGeom>
          <a:noFill/>
        </p:spPr>
        <p:txBody>
          <a:bodyPr wrap="square" rtlCol="0">
            <a:spAutoFit/>
          </a:bodyPr>
          <a:lstStyle/>
          <a:p>
            <a:r>
              <a:rPr lang="en-US" sz="1100" dirty="0" smtClean="0"/>
              <a:t>On the Whole, 27.5% bookings have been cancelled. </a:t>
            </a:r>
          </a:p>
          <a:p>
            <a:endParaRPr lang="en-US" sz="1100" dirty="0"/>
          </a:p>
          <a:p>
            <a:r>
              <a:rPr lang="en-US" sz="1100" dirty="0" smtClean="0"/>
              <a:t>This may be because of customer </a:t>
            </a:r>
            <a:r>
              <a:rPr lang="en-US" sz="1100" dirty="0" err="1" smtClean="0"/>
              <a:t>experience,Cancellation</a:t>
            </a:r>
            <a:r>
              <a:rPr lang="en-US" sz="1100" dirty="0" smtClean="0"/>
              <a:t> Policies or Because o Market Competition</a:t>
            </a:r>
            <a:endParaRPr lang="en-US" sz="1100" dirty="0"/>
          </a:p>
        </p:txBody>
      </p:sp>
      <p:sp>
        <p:nvSpPr>
          <p:cNvPr id="11" name="TextBox 10"/>
          <p:cNvSpPr txBox="1"/>
          <p:nvPr/>
        </p:nvSpPr>
        <p:spPr>
          <a:xfrm>
            <a:off x="6629400" y="1524000"/>
            <a:ext cx="2209800" cy="1107996"/>
          </a:xfrm>
          <a:prstGeom prst="rect">
            <a:avLst/>
          </a:prstGeom>
          <a:noFill/>
        </p:spPr>
        <p:txBody>
          <a:bodyPr wrap="square" rtlCol="0">
            <a:spAutoFit/>
          </a:bodyPr>
          <a:lstStyle/>
          <a:p>
            <a:r>
              <a:rPr lang="en-US" sz="1100" dirty="0" smtClean="0"/>
              <a:t>Almost 96.1 percent of People are new Guests</a:t>
            </a:r>
          </a:p>
          <a:p>
            <a:endParaRPr lang="en-US" sz="1100" dirty="0"/>
          </a:p>
          <a:p>
            <a:r>
              <a:rPr lang="en-US" sz="1100" dirty="0" smtClean="0"/>
              <a:t>This may be because of Customer </a:t>
            </a:r>
            <a:r>
              <a:rPr lang="en-US" sz="1100" dirty="0" err="1" smtClean="0"/>
              <a:t>Acquistation</a:t>
            </a:r>
            <a:r>
              <a:rPr lang="en-US" sz="1100" dirty="0" smtClean="0"/>
              <a:t>, Customer Retention, Feedback</a:t>
            </a:r>
            <a:endParaRPr lang="en-US" sz="1100" dirty="0"/>
          </a:p>
        </p:txBody>
      </p:sp>
      <p:sp>
        <p:nvSpPr>
          <p:cNvPr id="13" name="TextBox 12"/>
          <p:cNvSpPr txBox="1"/>
          <p:nvPr/>
        </p:nvSpPr>
        <p:spPr>
          <a:xfrm>
            <a:off x="6781800" y="4800600"/>
            <a:ext cx="2209800" cy="600164"/>
          </a:xfrm>
          <a:prstGeom prst="rect">
            <a:avLst/>
          </a:prstGeom>
          <a:noFill/>
        </p:spPr>
        <p:txBody>
          <a:bodyPr wrap="square" rtlCol="0">
            <a:spAutoFit/>
          </a:bodyPr>
          <a:lstStyle/>
          <a:p>
            <a:r>
              <a:rPr lang="en-US" sz="1100" dirty="0" smtClean="0"/>
              <a:t>Almost 91.6% does not required Car Parking spaces.</a:t>
            </a:r>
          </a:p>
          <a:p>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0"/>
            <a:ext cx="6934200" cy="258762"/>
          </a:xfrm>
        </p:spPr>
        <p:txBody>
          <a:bodyPr>
            <a:normAutofit fontScale="90000"/>
          </a:bodyPr>
          <a:lstStyle/>
          <a:p>
            <a:r>
              <a:rPr lang="en-US" dirty="0" smtClean="0">
                <a:solidFill>
                  <a:schemeClr val="accent2">
                    <a:lumMod val="75000"/>
                  </a:schemeClr>
                </a:solidFill>
              </a:rPr>
              <a:t>Exploratory Data Analysis</a:t>
            </a:r>
            <a:endParaRPr lang="en-US" dirty="0"/>
          </a:p>
        </p:txBody>
      </p:sp>
      <p:pic>
        <p:nvPicPr>
          <p:cNvPr id="4" name="Picture 5"/>
          <p:cNvPicPr>
            <a:picLocks noGrp="1" noChangeAspect="1" noChangeArrowheads="1"/>
          </p:cNvPicPr>
          <p:nvPr>
            <p:ph idx="1"/>
          </p:nvPr>
        </p:nvPicPr>
        <p:blipFill>
          <a:blip r:embed="rId2"/>
          <a:srcRect/>
          <a:stretch>
            <a:fillRect/>
          </a:stretch>
        </p:blipFill>
        <p:spPr bwMode="auto">
          <a:xfrm>
            <a:off x="228600" y="762000"/>
            <a:ext cx="2133600" cy="1905000"/>
          </a:xfrm>
          <a:prstGeom prst="rect">
            <a:avLst/>
          </a:prstGeom>
          <a:noFill/>
          <a:ln w="9525">
            <a:noFill/>
            <a:miter lim="800000"/>
            <a:headEnd/>
            <a:tailEnd/>
          </a:ln>
          <a:effectLst/>
        </p:spPr>
      </p:pic>
      <p:sp>
        <p:nvSpPr>
          <p:cNvPr id="5" name="TextBox 4"/>
          <p:cNvSpPr txBox="1"/>
          <p:nvPr/>
        </p:nvSpPr>
        <p:spPr>
          <a:xfrm>
            <a:off x="2667000" y="1295400"/>
            <a:ext cx="1752600" cy="938719"/>
          </a:xfrm>
          <a:prstGeom prst="rect">
            <a:avLst/>
          </a:prstGeom>
          <a:noFill/>
        </p:spPr>
        <p:txBody>
          <a:bodyPr wrap="square" rtlCol="0">
            <a:spAutoFit/>
          </a:bodyPr>
          <a:lstStyle/>
          <a:p>
            <a:r>
              <a:rPr lang="en-US" sz="1100" dirty="0" smtClean="0"/>
              <a:t>Around 82.4% are  of transient type, 13.4% Transient –Party, 3.6% are of contract type and just 0.6% are from a group</a:t>
            </a:r>
            <a:endParaRPr lang="en-US" sz="1100" dirty="0"/>
          </a:p>
        </p:txBody>
      </p:sp>
      <p:pic>
        <p:nvPicPr>
          <p:cNvPr id="3074" name="Picture 2"/>
          <p:cNvPicPr>
            <a:picLocks noChangeAspect="1" noChangeArrowheads="1"/>
          </p:cNvPicPr>
          <p:nvPr/>
        </p:nvPicPr>
        <p:blipFill>
          <a:blip r:embed="rId3"/>
          <a:srcRect/>
          <a:stretch>
            <a:fillRect/>
          </a:stretch>
        </p:blipFill>
        <p:spPr bwMode="auto">
          <a:xfrm>
            <a:off x="4495800" y="685800"/>
            <a:ext cx="2286000" cy="1981200"/>
          </a:xfrm>
          <a:prstGeom prst="rect">
            <a:avLst/>
          </a:prstGeom>
          <a:noFill/>
          <a:ln w="9525">
            <a:noFill/>
            <a:miter lim="800000"/>
            <a:headEnd/>
            <a:tailEnd/>
          </a:ln>
          <a:effectLst/>
        </p:spPr>
      </p:pic>
      <p:sp>
        <p:nvSpPr>
          <p:cNvPr id="7" name="TextBox 6"/>
          <p:cNvSpPr txBox="1"/>
          <p:nvPr/>
        </p:nvSpPr>
        <p:spPr>
          <a:xfrm>
            <a:off x="6934200" y="990600"/>
            <a:ext cx="1905000" cy="1107996"/>
          </a:xfrm>
          <a:prstGeom prst="rect">
            <a:avLst/>
          </a:prstGeom>
          <a:noFill/>
        </p:spPr>
        <p:txBody>
          <a:bodyPr wrap="square" rtlCol="0">
            <a:spAutoFit/>
          </a:bodyPr>
          <a:lstStyle/>
          <a:p>
            <a:r>
              <a:rPr lang="en-US" sz="1100" dirty="0" smtClean="0"/>
              <a:t>Around 79.1% are booked through travel agents and 14.9% booked directly.5.8% are from corporate booking and 0.2% booked through global</a:t>
            </a:r>
            <a:endParaRPr lang="en-US" sz="1100" dirty="0"/>
          </a:p>
        </p:txBody>
      </p:sp>
      <p:pic>
        <p:nvPicPr>
          <p:cNvPr id="3075" name="Picture 3"/>
          <p:cNvPicPr>
            <a:picLocks noChangeAspect="1" noChangeArrowheads="1"/>
          </p:cNvPicPr>
          <p:nvPr/>
        </p:nvPicPr>
        <p:blipFill>
          <a:blip r:embed="rId4"/>
          <a:srcRect/>
          <a:stretch>
            <a:fillRect/>
          </a:stretch>
        </p:blipFill>
        <p:spPr bwMode="auto">
          <a:xfrm>
            <a:off x="381000" y="3810000"/>
            <a:ext cx="5048250" cy="2219325"/>
          </a:xfrm>
          <a:prstGeom prst="rect">
            <a:avLst/>
          </a:prstGeom>
          <a:noFill/>
          <a:ln w="9525">
            <a:noFill/>
            <a:miter lim="800000"/>
            <a:headEnd/>
            <a:tailEnd/>
          </a:ln>
          <a:effectLst/>
        </p:spPr>
      </p:pic>
      <p:sp>
        <p:nvSpPr>
          <p:cNvPr id="9" name="TextBox 8"/>
          <p:cNvSpPr txBox="1"/>
          <p:nvPr/>
        </p:nvSpPr>
        <p:spPr>
          <a:xfrm>
            <a:off x="5638800" y="4191000"/>
            <a:ext cx="2743200" cy="1384995"/>
          </a:xfrm>
          <a:prstGeom prst="rect">
            <a:avLst/>
          </a:prstGeom>
          <a:noFill/>
        </p:spPr>
        <p:txBody>
          <a:bodyPr wrap="square" rtlCol="0">
            <a:spAutoFit/>
          </a:bodyPr>
          <a:lstStyle/>
          <a:p>
            <a:r>
              <a:rPr lang="en-US" sz="1400" dirty="0" smtClean="0"/>
              <a:t>Agent number 9 made the most number of around 28759 Bookings followed by Agent number 240 which is just half of agent 9.  Agent 7 and 14 shares almost equal number of bookings </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5486400" cy="868362"/>
          </a:xfrm>
        </p:spPr>
        <p:txBody>
          <a:bodyPr>
            <a:normAutofit fontScale="90000"/>
          </a:bodyPr>
          <a:lstStyle/>
          <a:p>
            <a:r>
              <a:rPr lang="en-US" dirty="0" smtClean="0">
                <a:solidFill>
                  <a:schemeClr val="accent2">
                    <a:lumMod val="75000"/>
                  </a:schemeClr>
                </a:solidFill>
              </a:rPr>
              <a:t>Exploratory Data Analysis</a:t>
            </a:r>
            <a:endParaRPr lang="en-US" dirty="0"/>
          </a:p>
        </p:txBody>
      </p:sp>
      <p:pic>
        <p:nvPicPr>
          <p:cNvPr id="4099" name="Picture 3"/>
          <p:cNvPicPr>
            <a:picLocks noChangeAspect="1" noChangeArrowheads="1"/>
          </p:cNvPicPr>
          <p:nvPr/>
        </p:nvPicPr>
        <p:blipFill>
          <a:blip r:embed="rId2"/>
          <a:srcRect/>
          <a:stretch>
            <a:fillRect/>
          </a:stretch>
        </p:blipFill>
        <p:spPr bwMode="auto">
          <a:xfrm>
            <a:off x="0" y="1162050"/>
            <a:ext cx="4876800" cy="2190750"/>
          </a:xfrm>
          <a:prstGeom prst="rect">
            <a:avLst/>
          </a:prstGeom>
          <a:noFill/>
          <a:ln w="9525">
            <a:noFill/>
            <a:miter lim="800000"/>
            <a:headEnd/>
            <a:tailEnd/>
          </a:ln>
          <a:effectLst/>
        </p:spPr>
      </p:pic>
      <p:sp>
        <p:nvSpPr>
          <p:cNvPr id="6" name="TextBox 5"/>
          <p:cNvSpPr txBox="1"/>
          <p:nvPr/>
        </p:nvSpPr>
        <p:spPr>
          <a:xfrm>
            <a:off x="5257800" y="1371600"/>
            <a:ext cx="3352800" cy="923330"/>
          </a:xfrm>
          <a:prstGeom prst="rect">
            <a:avLst/>
          </a:prstGeom>
          <a:noFill/>
        </p:spPr>
        <p:txBody>
          <a:bodyPr wrap="square" rtlCol="0">
            <a:spAutoFit/>
          </a:bodyPr>
          <a:lstStyle/>
          <a:p>
            <a:r>
              <a:rPr lang="en-US" dirty="0" smtClean="0"/>
              <a:t>82% of people doesn’t make any changes and 10% made a single change.</a:t>
            </a:r>
            <a:endParaRPr lang="en-US" dirty="0"/>
          </a:p>
        </p:txBody>
      </p:sp>
      <p:sp>
        <p:nvSpPr>
          <p:cNvPr id="7" name="TextBox 6"/>
          <p:cNvSpPr txBox="1"/>
          <p:nvPr/>
        </p:nvSpPr>
        <p:spPr>
          <a:xfrm>
            <a:off x="5181600" y="4267200"/>
            <a:ext cx="3352800" cy="1477328"/>
          </a:xfrm>
          <a:prstGeom prst="rect">
            <a:avLst/>
          </a:prstGeom>
          <a:noFill/>
        </p:spPr>
        <p:txBody>
          <a:bodyPr wrap="square" rtlCol="0">
            <a:spAutoFit/>
          </a:bodyPr>
          <a:lstStyle/>
          <a:p>
            <a:r>
              <a:rPr lang="en-US" dirty="0" smtClean="0"/>
              <a:t>Most of the Guest preferred Bed and Breakfast while Full board was least preferred.  Half Board and Self change are preferred equally.</a:t>
            </a:r>
            <a:endParaRPr lang="en-US" dirty="0"/>
          </a:p>
        </p:txBody>
      </p:sp>
      <p:pic>
        <p:nvPicPr>
          <p:cNvPr id="4100" name="Picture 4"/>
          <p:cNvPicPr>
            <a:picLocks noChangeAspect="1" noChangeArrowheads="1"/>
          </p:cNvPicPr>
          <p:nvPr/>
        </p:nvPicPr>
        <p:blipFill>
          <a:blip r:embed="rId3"/>
          <a:srcRect/>
          <a:stretch>
            <a:fillRect/>
          </a:stretch>
        </p:blipFill>
        <p:spPr bwMode="auto">
          <a:xfrm>
            <a:off x="152400" y="3810000"/>
            <a:ext cx="4572000" cy="25908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04800"/>
            <a:ext cx="5943600" cy="762000"/>
          </a:xfrm>
        </p:spPr>
        <p:txBody>
          <a:bodyPr/>
          <a:lstStyle/>
          <a:p>
            <a:r>
              <a:rPr lang="en-US" dirty="0" smtClean="0">
                <a:solidFill>
                  <a:schemeClr val="accent2">
                    <a:lumMod val="75000"/>
                  </a:schemeClr>
                </a:solidFill>
              </a:rPr>
              <a:t>Exploratory Data Analysis</a:t>
            </a:r>
            <a:endParaRPr lang="en-US" dirty="0"/>
          </a:p>
        </p:txBody>
      </p:sp>
      <p:pic>
        <p:nvPicPr>
          <p:cNvPr id="5122" name="Picture 2"/>
          <p:cNvPicPr>
            <a:picLocks noChangeAspect="1" noChangeArrowheads="1"/>
          </p:cNvPicPr>
          <p:nvPr/>
        </p:nvPicPr>
        <p:blipFill>
          <a:blip r:embed="rId2"/>
          <a:srcRect/>
          <a:stretch>
            <a:fillRect/>
          </a:stretch>
        </p:blipFill>
        <p:spPr bwMode="auto">
          <a:xfrm>
            <a:off x="228600" y="1066800"/>
            <a:ext cx="8229600" cy="1676400"/>
          </a:xfrm>
          <a:prstGeom prst="rect">
            <a:avLst/>
          </a:prstGeom>
          <a:noFill/>
          <a:ln w="9525">
            <a:noFill/>
            <a:miter lim="800000"/>
            <a:headEnd/>
            <a:tailEnd/>
          </a:ln>
          <a:effectLst/>
        </p:spPr>
      </p:pic>
      <p:sp>
        <p:nvSpPr>
          <p:cNvPr id="5" name="TextBox 4"/>
          <p:cNvSpPr txBox="1"/>
          <p:nvPr/>
        </p:nvSpPr>
        <p:spPr>
          <a:xfrm>
            <a:off x="457200" y="2895600"/>
            <a:ext cx="3124200" cy="3739485"/>
          </a:xfrm>
          <a:prstGeom prst="rect">
            <a:avLst/>
          </a:prstGeom>
          <a:noFill/>
        </p:spPr>
        <p:txBody>
          <a:bodyPr wrap="square" rtlCol="0">
            <a:spAutoFit/>
          </a:bodyPr>
          <a:lstStyle/>
          <a:p>
            <a:r>
              <a:rPr lang="en-US" sz="1200" b="1" dirty="0"/>
              <a:t>Dominant Guest Origin:</a:t>
            </a:r>
            <a:endParaRPr lang="en-US" sz="1200" dirty="0"/>
          </a:p>
          <a:p>
            <a:pPr lvl="1"/>
            <a:r>
              <a:rPr lang="en-US" sz="1200" dirty="0"/>
              <a:t>A significant majority of guests, exceeding 25,000 individuals, originated from Portugal, indicating a pronounced preference for the hotel from this specific country.</a:t>
            </a:r>
          </a:p>
          <a:p>
            <a:r>
              <a:rPr lang="en-US" sz="1200" b="1" dirty="0"/>
              <a:t>International Guest Preferences:</a:t>
            </a:r>
            <a:endParaRPr lang="en-US" sz="1200" dirty="0"/>
          </a:p>
          <a:p>
            <a:pPr lvl="1"/>
            <a:r>
              <a:rPr lang="en-US" sz="1200" dirty="0"/>
              <a:t>Following Portugal, the primary sources of guests were identified as GBR (Great Britain), France, and Spain. These countries collectively contribute to a substantial portion of the hotel's international clientele.</a:t>
            </a:r>
          </a:p>
          <a:p>
            <a:r>
              <a:rPr lang="en-US" sz="1200" b="1" dirty="0" smtClean="0"/>
              <a:t>Portugal's </a:t>
            </a:r>
            <a:r>
              <a:rPr lang="en-US" sz="1200" b="1" dirty="0"/>
              <a:t>Strong Influence:</a:t>
            </a:r>
            <a:endParaRPr lang="en-US" sz="1200" dirty="0"/>
          </a:p>
          <a:p>
            <a:pPr lvl="1"/>
            <a:r>
              <a:rPr lang="en-US" sz="1200" dirty="0"/>
              <a:t>Portugal emerges as a key influencer in the hotel's guest demographic, with a substantial number exceeding 25,000. This underscores the hotel's appeal and resonance with Portuguese visitors.</a:t>
            </a:r>
          </a:p>
          <a:p>
            <a:endParaRPr lang="en-US" sz="900" dirty="0"/>
          </a:p>
        </p:txBody>
      </p:sp>
      <p:sp>
        <p:nvSpPr>
          <p:cNvPr id="6" name="TextBox 5"/>
          <p:cNvSpPr txBox="1"/>
          <p:nvPr/>
        </p:nvSpPr>
        <p:spPr>
          <a:xfrm>
            <a:off x="4419600" y="2971800"/>
            <a:ext cx="4267200" cy="3046988"/>
          </a:xfrm>
          <a:prstGeom prst="rect">
            <a:avLst/>
          </a:prstGeom>
          <a:noFill/>
        </p:spPr>
        <p:txBody>
          <a:bodyPr wrap="square" rtlCol="0">
            <a:spAutoFit/>
          </a:bodyPr>
          <a:lstStyle/>
          <a:p>
            <a:r>
              <a:rPr lang="en-US" sz="1200" b="1" dirty="0" smtClean="0"/>
              <a:t>European Visitor Concentration:</a:t>
            </a:r>
            <a:endParaRPr lang="en-US" sz="1200" dirty="0" smtClean="0"/>
          </a:p>
          <a:p>
            <a:pPr lvl="1"/>
            <a:r>
              <a:rPr lang="en-US" sz="1200" dirty="0" smtClean="0"/>
              <a:t>The clustering of guests from GBR, France, and Spain underscores the hotel's allure for European visitors. This regional concentration suggests the hotel's successful positioning within the European travel market</a:t>
            </a:r>
            <a:r>
              <a:rPr lang="en-US" sz="1200" dirty="0" smtClean="0"/>
              <a:t>.</a:t>
            </a:r>
          </a:p>
          <a:p>
            <a:pPr lvl="1"/>
            <a:endParaRPr lang="en-US" sz="1200" dirty="0" smtClean="0"/>
          </a:p>
          <a:p>
            <a:r>
              <a:rPr lang="en-US" sz="1200" b="1" dirty="0" smtClean="0"/>
              <a:t>Diversification </a:t>
            </a:r>
            <a:r>
              <a:rPr lang="en-US" sz="1200" b="1" dirty="0" smtClean="0"/>
              <a:t>in Guest Demographics:</a:t>
            </a:r>
            <a:endParaRPr lang="en-US" sz="1200" dirty="0" smtClean="0"/>
          </a:p>
          <a:p>
            <a:pPr lvl="1"/>
            <a:r>
              <a:rPr lang="en-US" sz="1200" dirty="0" smtClean="0"/>
              <a:t>The combination of Portugal, GBR, France, and Spain as primary sources of guests suggests a diversified guest demographic, contributing to the hotel's global appeal</a:t>
            </a:r>
            <a:r>
              <a:rPr lang="en-US" sz="1200" dirty="0" smtClean="0"/>
              <a:t>.</a:t>
            </a:r>
          </a:p>
          <a:p>
            <a:pPr lvl="1"/>
            <a:endParaRPr lang="en-US" sz="1200" dirty="0" smtClean="0"/>
          </a:p>
          <a:p>
            <a:r>
              <a:rPr lang="en-US" sz="1200" b="1" dirty="0" smtClean="0"/>
              <a:t>Strategic Insights for Marketing:</a:t>
            </a:r>
            <a:endParaRPr lang="en-US" sz="1200" dirty="0" smtClean="0"/>
          </a:p>
          <a:p>
            <a:pPr lvl="1"/>
            <a:r>
              <a:rPr lang="en-US" sz="1200" dirty="0" smtClean="0"/>
              <a:t>The data provides strategic insights for marketing efforts, indicating potential target regions and highlighting successful periods that can be leveraged for future promotional campaigns.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5638800" cy="792162"/>
          </a:xfrm>
        </p:spPr>
        <p:txBody>
          <a:bodyPr>
            <a:normAutofit fontScale="90000"/>
          </a:bodyPr>
          <a:lstStyle/>
          <a:p>
            <a:r>
              <a:rPr lang="en-US" dirty="0" smtClean="0">
                <a:solidFill>
                  <a:schemeClr val="accent2">
                    <a:lumMod val="75000"/>
                  </a:schemeClr>
                </a:solidFill>
              </a:rPr>
              <a:t>Exploratory Data Analysis</a:t>
            </a:r>
            <a:endParaRPr lang="en-US" dirty="0"/>
          </a:p>
        </p:txBody>
      </p:sp>
      <p:pic>
        <p:nvPicPr>
          <p:cNvPr id="6146" name="Picture 2"/>
          <p:cNvPicPr>
            <a:picLocks noChangeAspect="1" noChangeArrowheads="1"/>
          </p:cNvPicPr>
          <p:nvPr/>
        </p:nvPicPr>
        <p:blipFill>
          <a:blip r:embed="rId2"/>
          <a:srcRect/>
          <a:stretch>
            <a:fillRect/>
          </a:stretch>
        </p:blipFill>
        <p:spPr bwMode="auto">
          <a:xfrm>
            <a:off x="76199" y="990600"/>
            <a:ext cx="8991601" cy="1981201"/>
          </a:xfrm>
          <a:prstGeom prst="rect">
            <a:avLst/>
          </a:prstGeom>
          <a:noFill/>
          <a:ln w="9525">
            <a:noFill/>
            <a:miter lim="800000"/>
            <a:headEnd/>
            <a:tailEnd/>
          </a:ln>
          <a:effectLst/>
        </p:spPr>
      </p:pic>
      <p:sp>
        <p:nvSpPr>
          <p:cNvPr id="5" name="TextBox 4"/>
          <p:cNvSpPr txBox="1"/>
          <p:nvPr/>
        </p:nvSpPr>
        <p:spPr>
          <a:xfrm>
            <a:off x="457200" y="3505201"/>
            <a:ext cx="7315200" cy="2092881"/>
          </a:xfrm>
          <a:prstGeom prst="rect">
            <a:avLst/>
          </a:prstGeom>
          <a:noFill/>
        </p:spPr>
        <p:txBody>
          <a:bodyPr wrap="square" rtlCol="0">
            <a:spAutoFit/>
          </a:bodyPr>
          <a:lstStyle/>
          <a:p>
            <a:pPr>
              <a:buFont typeface="Arial" pitchFamily="34" charset="0"/>
              <a:buChar char="•"/>
            </a:pPr>
            <a:r>
              <a:rPr lang="en-US" sz="1000" dirty="0"/>
              <a:t>The preeminent choice among guests is undeniably room type "A," surpassing an impressive booking count of over 40,000. </a:t>
            </a:r>
            <a:endParaRPr lang="en-US" sz="1000" dirty="0" smtClean="0"/>
          </a:p>
          <a:p>
            <a:pPr>
              <a:buFont typeface="Arial" pitchFamily="34" charset="0"/>
              <a:buChar char="•"/>
            </a:pPr>
            <a:endParaRPr lang="en-US" sz="1000" dirty="0"/>
          </a:p>
          <a:p>
            <a:pPr>
              <a:buFont typeface="Arial" pitchFamily="34" charset="0"/>
              <a:buChar char="•"/>
            </a:pPr>
            <a:r>
              <a:rPr lang="en-US" sz="1000" dirty="0" smtClean="0"/>
              <a:t>In </a:t>
            </a:r>
            <a:r>
              <a:rPr lang="en-US" sz="1000" dirty="0"/>
              <a:t>contrast, room type "D" demonstrates a preference level merely half of that observed for room type "A</a:t>
            </a:r>
            <a:r>
              <a:rPr lang="en-US" sz="1000" dirty="0" smtClean="0"/>
              <a:t>.“</a:t>
            </a:r>
          </a:p>
          <a:p>
            <a:pPr>
              <a:buFont typeface="Arial" pitchFamily="34" charset="0"/>
              <a:buChar char="•"/>
            </a:pPr>
            <a:endParaRPr lang="en-US" sz="1000" dirty="0"/>
          </a:p>
          <a:p>
            <a:pPr>
              <a:buFont typeface="Arial" pitchFamily="34" charset="0"/>
              <a:buChar char="•"/>
            </a:pPr>
            <a:r>
              <a:rPr lang="en-US" sz="1000" dirty="0"/>
              <a:t>Meanwhile, room type "E" registers bookings below the 10,000 mark, indicating a lower but still substantial popularity among guests. This hierarchy in booking preferences offers valuable insights into guest choices and preferences, enabling strategic decision-making in areas such as inventory management, pricing strategies, and targeted marketing efforts. </a:t>
            </a:r>
            <a:endParaRPr lang="en-US" sz="1000" dirty="0" smtClean="0"/>
          </a:p>
          <a:p>
            <a:pPr>
              <a:buFont typeface="Arial" pitchFamily="34" charset="0"/>
              <a:buChar char="•"/>
            </a:pPr>
            <a:endParaRPr lang="en-US" sz="1000" dirty="0"/>
          </a:p>
          <a:p>
            <a:pPr>
              <a:buFont typeface="Arial" pitchFamily="34" charset="0"/>
              <a:buChar char="•"/>
            </a:pPr>
            <a:r>
              <a:rPr lang="en-US" sz="1000" dirty="0" smtClean="0"/>
              <a:t>By </a:t>
            </a:r>
            <a:r>
              <a:rPr lang="en-US" sz="1000" dirty="0"/>
              <a:t>recognizing the distinct appeal of each room type, the hospitality establishment can tailor its offerings to align more closely with guest expectations and enhance overall satisfaction.</a:t>
            </a:r>
          </a:p>
          <a:p>
            <a:r>
              <a:rPr lang="en-US" sz="1000" dirty="0"/>
              <a:t/>
            </a:r>
            <a:br>
              <a:rPr lang="en-US" sz="1000" dirty="0"/>
            </a:br>
            <a:endParaRPr lang="en-US" sz="1000" dirty="0"/>
          </a:p>
          <a:p>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74638"/>
            <a:ext cx="6781800" cy="639762"/>
          </a:xfrm>
        </p:spPr>
        <p:txBody>
          <a:bodyPr>
            <a:normAutofit fontScale="90000"/>
          </a:bodyPr>
          <a:lstStyle/>
          <a:p>
            <a:r>
              <a:rPr lang="en-US" dirty="0" smtClean="0">
                <a:solidFill>
                  <a:schemeClr val="accent2">
                    <a:lumMod val="75000"/>
                  </a:schemeClr>
                </a:solidFill>
              </a:rPr>
              <a:t>Exploratory Data Analysis</a:t>
            </a:r>
            <a:endParaRPr lang="en-US" dirty="0"/>
          </a:p>
        </p:txBody>
      </p:sp>
      <p:pic>
        <p:nvPicPr>
          <p:cNvPr id="7170" name="Picture 2"/>
          <p:cNvPicPr>
            <a:picLocks noChangeAspect="1" noChangeArrowheads="1"/>
          </p:cNvPicPr>
          <p:nvPr/>
        </p:nvPicPr>
        <p:blipFill>
          <a:blip r:embed="rId2"/>
          <a:srcRect/>
          <a:stretch>
            <a:fillRect/>
          </a:stretch>
        </p:blipFill>
        <p:spPr bwMode="auto">
          <a:xfrm>
            <a:off x="76200" y="914400"/>
            <a:ext cx="8763000" cy="2166937"/>
          </a:xfrm>
          <a:prstGeom prst="rect">
            <a:avLst/>
          </a:prstGeom>
          <a:noFill/>
          <a:ln w="9525">
            <a:noFill/>
            <a:miter lim="800000"/>
            <a:headEnd/>
            <a:tailEnd/>
          </a:ln>
          <a:effectLst/>
        </p:spPr>
      </p:pic>
      <p:sp>
        <p:nvSpPr>
          <p:cNvPr id="5" name="TextBox 4"/>
          <p:cNvSpPr txBox="1"/>
          <p:nvPr/>
        </p:nvSpPr>
        <p:spPr>
          <a:xfrm>
            <a:off x="533400" y="3276600"/>
            <a:ext cx="3581400" cy="3277820"/>
          </a:xfrm>
          <a:prstGeom prst="rect">
            <a:avLst/>
          </a:prstGeom>
          <a:noFill/>
        </p:spPr>
        <p:txBody>
          <a:bodyPr wrap="square" rtlCol="0">
            <a:spAutoFit/>
          </a:bodyPr>
          <a:lstStyle/>
          <a:p>
            <a:r>
              <a:rPr lang="en-US" sz="900" b="1" dirty="0"/>
              <a:t>Resort Hotel Dominance in Peak Months:</a:t>
            </a:r>
            <a:endParaRPr lang="en-US" sz="900" dirty="0"/>
          </a:p>
          <a:p>
            <a:pPr lvl="1"/>
            <a:r>
              <a:rPr lang="en-US" sz="900" dirty="0"/>
              <a:t>Resort hotels exhibited the highest Average Daily Rates (ADR) during the summer months of June, July, and August, surpassing those of City hotels. This suggests a heightened demand for resort-style accommodations during the vacation season.</a:t>
            </a:r>
          </a:p>
          <a:p>
            <a:r>
              <a:rPr lang="en-US" sz="900" b="1" dirty="0"/>
              <a:t>City Hotels Lead in Other Months:</a:t>
            </a:r>
            <a:endParaRPr lang="en-US" sz="900" dirty="0"/>
          </a:p>
          <a:p>
            <a:pPr lvl="1"/>
            <a:r>
              <a:rPr lang="en-US" sz="900" dirty="0"/>
              <a:t>In contrast, during the remaining months, City hotels outperformed Resort hotels in terms of ADR. This indicates a shift in customer preferences or demand dynamics, with City hotels offering better ADR during non-peak periods.</a:t>
            </a:r>
          </a:p>
          <a:p>
            <a:r>
              <a:rPr lang="en-US" sz="900" b="1" dirty="0"/>
              <a:t>Optimal Months for Customer Savings:</a:t>
            </a:r>
            <a:endParaRPr lang="en-US" sz="900" dirty="0"/>
          </a:p>
          <a:p>
            <a:pPr lvl="1"/>
            <a:r>
              <a:rPr lang="en-US" sz="900" dirty="0"/>
              <a:t>January, February, March, April, November, and December emerge as favorable months for customers to secure advantageous ADR. During these months, both Resort and City hotels present opportunities for guests to enjoy more favorable rates.</a:t>
            </a:r>
          </a:p>
          <a:p>
            <a:r>
              <a:rPr lang="en-US" sz="900" b="1" dirty="0"/>
              <a:t>Strategic Booking Considerations:</a:t>
            </a:r>
            <a:endParaRPr lang="en-US" sz="900" dirty="0"/>
          </a:p>
          <a:p>
            <a:pPr lvl="1"/>
            <a:r>
              <a:rPr lang="en-US" sz="900" dirty="0"/>
              <a:t>The observed seasonal variations highlight the importance of strategic booking for customers. Depending on the desired experience and budget considerations, guests can capitalize on optimal ADR in specific months.</a:t>
            </a:r>
          </a:p>
          <a:p>
            <a:endParaRPr lang="en-US" sz="900" dirty="0"/>
          </a:p>
        </p:txBody>
      </p:sp>
      <p:sp>
        <p:nvSpPr>
          <p:cNvPr id="6" name="TextBox 5"/>
          <p:cNvSpPr txBox="1"/>
          <p:nvPr/>
        </p:nvSpPr>
        <p:spPr>
          <a:xfrm>
            <a:off x="5029200" y="3276600"/>
            <a:ext cx="3581400" cy="3323987"/>
          </a:xfrm>
          <a:prstGeom prst="rect">
            <a:avLst/>
          </a:prstGeom>
          <a:noFill/>
        </p:spPr>
        <p:txBody>
          <a:bodyPr wrap="square" rtlCol="0">
            <a:spAutoFit/>
          </a:bodyPr>
          <a:lstStyle/>
          <a:p>
            <a:r>
              <a:rPr lang="en-US" sz="1050" b="1" dirty="0"/>
              <a:t>Balancing Cost and Experience:</a:t>
            </a:r>
            <a:endParaRPr lang="en-US" sz="1050" dirty="0"/>
          </a:p>
          <a:p>
            <a:pPr lvl="1"/>
            <a:r>
              <a:rPr lang="en-US" sz="1050" dirty="0"/>
              <a:t>Customers seeking cost-effective options may find the mentioned months conducive to securing favorable ADR. Balancing budget constraints with seasonal preferences allows for a more tailored and cost-efficient booking strategy.</a:t>
            </a:r>
          </a:p>
          <a:p>
            <a:r>
              <a:rPr lang="en-US" sz="1050" b="1" dirty="0"/>
              <a:t>Enhanced Customer Decision-Making:</a:t>
            </a:r>
            <a:endParaRPr lang="en-US" sz="1050" dirty="0"/>
          </a:p>
          <a:p>
            <a:pPr lvl="1"/>
            <a:r>
              <a:rPr lang="en-US" sz="1050" dirty="0"/>
              <a:t>This analysis empowers customers with insights into the seasonal nuances of ADR, enabling informed decision-making when planning their stays. Understanding the fluctuations in pricing contributes to a more satisfying and economically prudent guest experience.</a:t>
            </a:r>
          </a:p>
          <a:p>
            <a:r>
              <a:rPr lang="en-US" sz="1050" b="1" dirty="0"/>
              <a:t>Business Strategy Implications:</a:t>
            </a:r>
            <a:endParaRPr lang="en-US" sz="1050" dirty="0"/>
          </a:p>
          <a:p>
            <a:pPr lvl="1"/>
            <a:r>
              <a:rPr lang="en-US" sz="1050" dirty="0"/>
              <a:t>For hotel management, recognizing the seasonal patterns in ADR facilitates strategic planning. It allows for targeted marketing efforts, pricing adjustments, and resource allocation to align with the anticipated demand fluctuations throughout the year.</a:t>
            </a:r>
          </a:p>
          <a:p>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304800"/>
            <a:ext cx="6096000" cy="715962"/>
          </a:xfrm>
        </p:spPr>
        <p:txBody>
          <a:bodyPr>
            <a:normAutofit fontScale="90000"/>
          </a:bodyPr>
          <a:lstStyle/>
          <a:p>
            <a:r>
              <a:rPr lang="en-US" dirty="0" smtClean="0">
                <a:solidFill>
                  <a:schemeClr val="accent2">
                    <a:lumMod val="75000"/>
                  </a:schemeClr>
                </a:solidFill>
              </a:rPr>
              <a:t>Exploratory Data Analysis</a:t>
            </a:r>
            <a:endParaRPr lang="en-US" dirty="0"/>
          </a:p>
        </p:txBody>
      </p:sp>
      <p:pic>
        <p:nvPicPr>
          <p:cNvPr id="8194" name="Picture 2"/>
          <p:cNvPicPr>
            <a:picLocks noChangeAspect="1" noChangeArrowheads="1"/>
          </p:cNvPicPr>
          <p:nvPr/>
        </p:nvPicPr>
        <p:blipFill>
          <a:blip r:embed="rId2"/>
          <a:srcRect/>
          <a:stretch>
            <a:fillRect/>
          </a:stretch>
        </p:blipFill>
        <p:spPr bwMode="auto">
          <a:xfrm>
            <a:off x="533400" y="1143000"/>
            <a:ext cx="3918740" cy="2666999"/>
          </a:xfrm>
          <a:prstGeom prst="rect">
            <a:avLst/>
          </a:prstGeom>
          <a:noFill/>
          <a:ln w="9525">
            <a:noFill/>
            <a:miter lim="800000"/>
            <a:headEnd/>
            <a:tailEnd/>
          </a:ln>
          <a:effectLst/>
        </p:spPr>
      </p:pic>
      <p:sp>
        <p:nvSpPr>
          <p:cNvPr id="5" name="TextBox 4"/>
          <p:cNvSpPr txBox="1"/>
          <p:nvPr/>
        </p:nvSpPr>
        <p:spPr>
          <a:xfrm>
            <a:off x="4495800" y="1219200"/>
            <a:ext cx="4191000" cy="3785652"/>
          </a:xfrm>
          <a:prstGeom prst="rect">
            <a:avLst/>
          </a:prstGeom>
          <a:noFill/>
          <a:ln>
            <a:solidFill>
              <a:schemeClr val="tx1"/>
            </a:solidFill>
          </a:ln>
        </p:spPr>
        <p:txBody>
          <a:bodyPr wrap="square" rtlCol="0">
            <a:spAutoFit/>
          </a:bodyPr>
          <a:lstStyle/>
          <a:p>
            <a:r>
              <a:rPr lang="en-US" sz="1000" b="1" dirty="0"/>
              <a:t>Negative Correlation between Cancellation and Same Room Allotment:</a:t>
            </a:r>
            <a:endParaRPr lang="en-US" sz="1000" dirty="0"/>
          </a:p>
          <a:p>
            <a:pPr lvl="1"/>
            <a:r>
              <a:rPr lang="en-US" sz="1000" dirty="0"/>
              <a:t>An intriguing observation is the negative correlation between the variables "</a:t>
            </a:r>
            <a:r>
              <a:rPr lang="en-US" sz="1000" dirty="0" err="1"/>
              <a:t>is_canceled</a:t>
            </a:r>
            <a:r>
              <a:rPr lang="en-US" sz="1000" dirty="0"/>
              <a:t>" and "</a:t>
            </a:r>
            <a:r>
              <a:rPr lang="en-US" sz="1000" dirty="0" err="1"/>
              <a:t>same_room_alloted_or_not</a:t>
            </a:r>
            <a:r>
              <a:rPr lang="en-US" sz="1000" dirty="0"/>
              <a:t>." The data suggests that the failure to get the same room as reserved is not a significant factor contributing to booking cancellations.</a:t>
            </a:r>
          </a:p>
          <a:p>
            <a:r>
              <a:rPr lang="en-US" sz="1000" b="1" dirty="0"/>
              <a:t>Positive Correlation between Lead Time and Total Stay:</a:t>
            </a:r>
            <a:endParaRPr lang="en-US" sz="1000" dirty="0"/>
          </a:p>
          <a:p>
            <a:pPr lvl="1"/>
            <a:r>
              <a:rPr lang="en-US" sz="1000" dirty="0"/>
              <a:t>A positive correlation is identified between "lead-time" and "total stay," indicating that as the duration of a customer's stay increases, the lead time for booking tends to be longer. This pattern suggests that customers with extended stays tend to plan and book well in advance.</a:t>
            </a:r>
          </a:p>
          <a:p>
            <a:r>
              <a:rPr lang="en-US" sz="1000" b="1" dirty="0"/>
              <a:t>High Correlation between ADR and Total People:</a:t>
            </a:r>
            <a:endParaRPr lang="en-US" sz="1000" dirty="0"/>
          </a:p>
          <a:p>
            <a:pPr lvl="1"/>
            <a:r>
              <a:rPr lang="en-US" sz="1000" dirty="0"/>
              <a:t>A noteworthy finding is the high correlation between "ADR" (Average Daily Rate) and the variable "total people." This implies that as the number of people in a booking increases, the ADR tends to be higher. The correlation underscores the potential relationship between group size and higher revenue generation for the hotel.</a:t>
            </a:r>
          </a:p>
          <a:p>
            <a:r>
              <a:rPr lang="en-US" sz="1000" b="1" dirty="0"/>
              <a:t>Strong Correlation between Repeated Guests and Not Canceled Bookings:</a:t>
            </a:r>
            <a:endParaRPr lang="en-US" sz="1000" dirty="0"/>
          </a:p>
          <a:p>
            <a:pPr lvl="1"/>
            <a:r>
              <a:rPr lang="en-US" sz="1000" dirty="0"/>
              <a:t>A robust correlation is observed between "</a:t>
            </a:r>
            <a:r>
              <a:rPr lang="en-US" sz="1000" dirty="0" err="1"/>
              <a:t>is_repeated_guest</a:t>
            </a:r>
            <a:r>
              <a:rPr lang="en-US" sz="1000" dirty="0"/>
              <a:t>" and "</a:t>
            </a:r>
            <a:r>
              <a:rPr lang="en-US" sz="1000" dirty="0" err="1"/>
              <a:t>previous_bookings_not_canceled</a:t>
            </a:r>
            <a:r>
              <a:rPr lang="en-US" sz="1000" dirty="0"/>
              <a:t>." This suggests that guests who have a history of previous bookings are less likely to cancel their reservations. The loyalty or familiarity factor may contribute to this strong correlation.</a:t>
            </a:r>
          </a:p>
          <a:p>
            <a:endParaRPr lang="en-US" sz="1000" dirty="0"/>
          </a:p>
        </p:txBody>
      </p:sp>
      <p:sp>
        <p:nvSpPr>
          <p:cNvPr id="6" name="TextBox 5"/>
          <p:cNvSpPr txBox="1"/>
          <p:nvPr/>
        </p:nvSpPr>
        <p:spPr>
          <a:xfrm>
            <a:off x="533400" y="3886201"/>
            <a:ext cx="3886200" cy="3000821"/>
          </a:xfrm>
          <a:prstGeom prst="rect">
            <a:avLst/>
          </a:prstGeom>
          <a:noFill/>
          <a:ln>
            <a:solidFill>
              <a:schemeClr val="tx1"/>
            </a:solidFill>
          </a:ln>
        </p:spPr>
        <p:txBody>
          <a:bodyPr wrap="square" rtlCol="0">
            <a:spAutoFit/>
          </a:bodyPr>
          <a:lstStyle/>
          <a:p>
            <a:r>
              <a:rPr lang="en-US" sz="900" b="1" dirty="0"/>
              <a:t>Interpretation and Implications:</a:t>
            </a:r>
            <a:endParaRPr lang="en-US" sz="900" dirty="0"/>
          </a:p>
          <a:p>
            <a:r>
              <a:rPr lang="en-US" sz="900" i="1" dirty="0"/>
              <a:t>Guest Room Allotment and Cancellations:</a:t>
            </a:r>
            <a:r>
              <a:rPr lang="en-US" sz="900" dirty="0"/>
              <a:t> The negative correlation challenges the assumption that room allotment discrepancies contribute significantly to cancellations. The hotel may explore other factors influencing cancellations to enhance guest satisfaction</a:t>
            </a:r>
            <a:r>
              <a:rPr lang="en-US" sz="900" dirty="0" smtClean="0"/>
              <a:t>.</a:t>
            </a:r>
          </a:p>
          <a:p>
            <a:endParaRPr lang="en-US" sz="900" dirty="0"/>
          </a:p>
          <a:p>
            <a:r>
              <a:rPr lang="en-US" sz="900" i="1" dirty="0"/>
              <a:t>Lead Time and Extended Stays:</a:t>
            </a:r>
            <a:r>
              <a:rPr lang="en-US" sz="900" dirty="0"/>
              <a:t> Understanding the positive correlation between lead time and total stay helps the hotel anticipate and manage reservations more effectively, especially for customers with longer stays</a:t>
            </a:r>
            <a:r>
              <a:rPr lang="en-US" sz="900" dirty="0" smtClean="0"/>
              <a:t>.</a:t>
            </a:r>
          </a:p>
          <a:p>
            <a:endParaRPr lang="en-US" sz="900" dirty="0"/>
          </a:p>
          <a:p>
            <a:r>
              <a:rPr lang="en-US" sz="900" i="1" dirty="0"/>
              <a:t>Revenue Optimization through ADR and Group Bookings:</a:t>
            </a:r>
            <a:r>
              <a:rPr lang="en-US" sz="900" dirty="0"/>
              <a:t> The correlation between ADR and total people highlights an opportunity for revenue optimization. The hotel might consider tailored pricing strategies for group bookings to capitalize on higher ADR associated with larger parties</a:t>
            </a:r>
            <a:r>
              <a:rPr lang="en-US" sz="900" dirty="0" smtClean="0"/>
              <a:t>.</a:t>
            </a:r>
          </a:p>
          <a:p>
            <a:endParaRPr lang="en-US" sz="900" dirty="0"/>
          </a:p>
          <a:p>
            <a:r>
              <a:rPr lang="en-US" sz="900" i="1" dirty="0"/>
              <a:t>Customer Loyalty and Booking Reliability:</a:t>
            </a:r>
            <a:r>
              <a:rPr lang="en-US" sz="900" dirty="0"/>
              <a:t> The strong correlation between repeated guests and not canceled bookings emphasizes the importance of customer loyalty in reducing cancellation rates. The hotel can leverage this information to implement targeted loyalty programs and personalized services for returning guests.</a:t>
            </a:r>
          </a:p>
          <a:p>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274638"/>
            <a:ext cx="3505200" cy="563562"/>
          </a:xfrm>
        </p:spPr>
        <p:txBody>
          <a:bodyPr>
            <a:normAutofit fontScale="90000"/>
          </a:bodyPr>
          <a:lstStyle/>
          <a:p>
            <a:r>
              <a:rPr lang="en-US" dirty="0" smtClean="0"/>
              <a:t>Conclusion</a:t>
            </a:r>
            <a:endParaRPr lang="en-US" dirty="0"/>
          </a:p>
        </p:txBody>
      </p:sp>
      <p:sp>
        <p:nvSpPr>
          <p:cNvPr id="3" name="Content Placeholder 2"/>
          <p:cNvSpPr>
            <a:spLocks noGrp="1"/>
          </p:cNvSpPr>
          <p:nvPr>
            <p:ph idx="1"/>
          </p:nvPr>
        </p:nvSpPr>
        <p:spPr>
          <a:xfrm>
            <a:off x="457200" y="1143000"/>
            <a:ext cx="3810000" cy="4983163"/>
          </a:xfrm>
          <a:ln>
            <a:solidFill>
              <a:schemeClr val="tx1"/>
            </a:solidFill>
          </a:ln>
        </p:spPr>
        <p:txBody>
          <a:bodyPr>
            <a:normAutofit fontScale="40000" lnSpcReduction="20000"/>
          </a:bodyPr>
          <a:lstStyle/>
          <a:p>
            <a:r>
              <a:rPr lang="en-US" b="1" dirty="0"/>
              <a:t>Hotel Booking Distribution:</a:t>
            </a:r>
            <a:endParaRPr lang="en-US" dirty="0"/>
          </a:p>
          <a:p>
            <a:pPr lvl="1"/>
            <a:r>
              <a:rPr lang="en-US" dirty="0"/>
              <a:t>Approximately 60% of bookings are for City hotels, emphasizing their higher demand compared to Resort hotels, which account for 40% of bookings. The overall Average Daily Rate (ADR) of City hotels is slightly higher.</a:t>
            </a:r>
          </a:p>
          <a:p>
            <a:r>
              <a:rPr lang="en-US" b="1" dirty="0"/>
              <a:t>Stay Duration Preferences:</a:t>
            </a:r>
            <a:endParaRPr lang="en-US" dirty="0"/>
          </a:p>
          <a:p>
            <a:pPr lvl="1"/>
            <a:r>
              <a:rPr lang="en-US" dirty="0"/>
              <a:t>Guests typically stay for less than 5 days in hotels, with the trend shifting towards longer stays in Resort hotels. This insight can influence pricing strategies and package offerings.</a:t>
            </a:r>
          </a:p>
          <a:p>
            <a:r>
              <a:rPr lang="en-US" b="1" dirty="0"/>
              <a:t>Cancellation Rates and Guest Loyalty:</a:t>
            </a:r>
            <a:endParaRPr lang="en-US" dirty="0"/>
          </a:p>
          <a:p>
            <a:pPr lvl="1"/>
            <a:r>
              <a:rPr lang="en-US" dirty="0"/>
              <a:t>Both hotels experience high booking cancellation rates. City hotels have a notably low percentage of guests returning for another booking (less than 3%), while Resort hotels show a higher return rate of 5%.</a:t>
            </a:r>
          </a:p>
          <a:p>
            <a:r>
              <a:rPr lang="en-US" b="1" dirty="0"/>
              <a:t>Geographical Source of Guests:</a:t>
            </a:r>
            <a:endParaRPr lang="en-US" dirty="0"/>
          </a:p>
          <a:p>
            <a:pPr lvl="1"/>
            <a:r>
              <a:rPr lang="en-US" dirty="0"/>
              <a:t>European countries contribute the majority of guests, with Portugal being the primary source. Understanding these demographics aids in targeted marketing and guest experience customization.</a:t>
            </a:r>
          </a:p>
          <a:p>
            <a:r>
              <a:rPr lang="en-US" b="1" dirty="0"/>
              <a:t>Booking Channels and Recommendations:</a:t>
            </a:r>
            <a:endParaRPr lang="en-US" dirty="0"/>
          </a:p>
          <a:p>
            <a:pPr lvl="1"/>
            <a:r>
              <a:rPr lang="en-US" dirty="0"/>
              <a:t>Guests predominantly use the TA/TO (Travel Agency/Tour Operator) channel for bookings. However, around 30% of bookings via TA/TO are canceled, indicating potential issues that may need attention. Hotels should focus on optimizing popularity on GDS (Global Distribution System) channels.</a:t>
            </a:r>
          </a:p>
          <a:p>
            <a:endParaRPr lang="en-US" dirty="0"/>
          </a:p>
        </p:txBody>
      </p:sp>
      <p:sp>
        <p:nvSpPr>
          <p:cNvPr id="4" name="Content Placeholder 2"/>
          <p:cNvSpPr txBox="1">
            <a:spLocks/>
          </p:cNvSpPr>
          <p:nvPr/>
        </p:nvSpPr>
        <p:spPr>
          <a:xfrm>
            <a:off x="4724400" y="1143000"/>
            <a:ext cx="3810000" cy="4983163"/>
          </a:xfrm>
          <a:prstGeom prst="rect">
            <a:avLst/>
          </a:prstGeom>
          <a:ln>
            <a:solidFill>
              <a:schemeClr val="tx1"/>
            </a:solidFill>
          </a:ln>
        </p:spPr>
        <p:txBody>
          <a:bodyPr vert="horz" lIns="91440" tIns="45720" rIns="91440" bIns="45720" rtlCol="0">
            <a:normAutofit fontScale="62500" lnSpcReduction="20000"/>
          </a:bodyPr>
          <a:lstStyle/>
          <a:p>
            <a:pPr>
              <a:buFont typeface="Arial" pitchFamily="34" charset="0"/>
              <a:buChar char="•"/>
            </a:pPr>
            <a:r>
              <a:rPr lang="en-US" b="1" dirty="0"/>
              <a:t>Cancellation Factors and Room Allotment Impact:</a:t>
            </a:r>
            <a:endParaRPr lang="en-US" dirty="0"/>
          </a:p>
          <a:p>
            <a:pPr lvl="1">
              <a:buFont typeface="Arial" pitchFamily="34" charset="0"/>
              <a:buChar char="•"/>
            </a:pPr>
            <a:r>
              <a:rPr lang="en-US" dirty="0"/>
              <a:t>Factors such as not getting the same room as reserved, longer lead time, and waiting time do not significantly affect booking cancellations. However, different room allotments do lower the ADR. This suggests an opportunity for hotels to improve room allocation practices</a:t>
            </a:r>
            <a:r>
              <a:rPr lang="en-US" dirty="0" smtClean="0"/>
              <a:t>.</a:t>
            </a:r>
          </a:p>
          <a:p>
            <a:pPr lvl="1"/>
            <a:endParaRPr lang="en-US" dirty="0"/>
          </a:p>
          <a:p>
            <a:pPr>
              <a:buFont typeface="Arial" pitchFamily="34" charset="0"/>
              <a:buChar char="•"/>
            </a:pPr>
            <a:r>
              <a:rPr lang="en-US" b="1" dirty="0"/>
              <a:t>Peak Months and Weekend Trends:</a:t>
            </a:r>
            <a:endParaRPr lang="en-US" dirty="0"/>
          </a:p>
          <a:p>
            <a:pPr lvl="1">
              <a:buFont typeface="Arial" pitchFamily="34" charset="0"/>
              <a:buChar char="•"/>
            </a:pPr>
            <a:r>
              <a:rPr lang="en-US" dirty="0"/>
              <a:t>July-August emerge as the busiest and most profitable months for both hotels. Within a month, ADR gradually increases towards the end, with a slight surge on weekends. This information is valuable for revenue management</a:t>
            </a:r>
            <a:r>
              <a:rPr lang="en-US" dirty="0" smtClean="0"/>
              <a:t>.</a:t>
            </a:r>
          </a:p>
          <a:p>
            <a:pPr lvl="1"/>
            <a:endParaRPr lang="en-US" dirty="0"/>
          </a:p>
          <a:p>
            <a:pPr>
              <a:buFont typeface="Arial" pitchFamily="34" charset="0"/>
              <a:buChar char="•"/>
            </a:pPr>
            <a:r>
              <a:rPr lang="en-US" b="1" dirty="0"/>
              <a:t>Targeted Services for Couples:</a:t>
            </a:r>
            <a:endParaRPr lang="en-US" dirty="0"/>
          </a:p>
          <a:p>
            <a:pPr lvl="1">
              <a:buFont typeface="Arial" pitchFamily="34" charset="0"/>
              <a:buChar char="•"/>
            </a:pPr>
            <a:r>
              <a:rPr lang="en-US" dirty="0"/>
              <a:t>Couples are the most common guests, indicating an opportunity for hotels to tailor services to meet couples' needs and preferences, potentially enhancing guest satisfaction and loyalty</a:t>
            </a:r>
            <a:r>
              <a:rPr lang="en-US" dirty="0" smtClean="0"/>
              <a:t>.</a:t>
            </a:r>
          </a:p>
          <a:p>
            <a:pPr lvl="1"/>
            <a:endParaRPr lang="en-US" dirty="0"/>
          </a:p>
          <a:p>
            <a:pPr>
              <a:buFont typeface="Arial" pitchFamily="34" charset="0"/>
              <a:buChar char="•"/>
            </a:pPr>
            <a:r>
              <a:rPr lang="en-US" b="1" dirty="0"/>
              <a:t>Special Requests and Guest Composition:</a:t>
            </a:r>
            <a:endParaRPr lang="en-US" dirty="0"/>
          </a:p>
          <a:p>
            <a:pPr lvl="1">
              <a:buFont typeface="Arial" pitchFamily="34" charset="0"/>
              <a:buChar char="•"/>
            </a:pPr>
            <a:r>
              <a:rPr lang="en-US" dirty="0"/>
              <a:t>More people in a booking result in a higher number of special requests. Complementary market segments and bookings with adults tend to have a higher average number of special requests</a:t>
            </a:r>
            <a:r>
              <a:rPr lang="en-US" dirty="0" smtClean="0"/>
              <a:t>.</a:t>
            </a:r>
          </a:p>
          <a:p>
            <a:pPr lvl="1"/>
            <a:endParaRPr lang="en-US" dirty="0"/>
          </a:p>
          <a:p>
            <a:pPr>
              <a:buFont typeface="Arial" pitchFamily="34" charset="0"/>
              <a:buChar char="•"/>
            </a:pPr>
            <a:r>
              <a:rPr lang="en-US" b="1" dirty="0"/>
              <a:t>Longer Stays and Better Deals:</a:t>
            </a:r>
            <a:endParaRPr lang="en-US" dirty="0"/>
          </a:p>
          <a:p>
            <a:pPr lvl="1"/>
            <a:r>
              <a:rPr lang="en-US" dirty="0"/>
              <a:t>Longer stays, especially exceeding 15 days, can result in better deals with lower ADR. This insight is valuable for both guests seeking extended stays and hotels aiming to optimize revenue for prolonged bookings.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409</TotalTime>
  <Words>2488</Words>
  <Application>Microsoft Office PowerPoint</Application>
  <PresentationFormat>On-screen Show (4:3)</PresentationFormat>
  <Paragraphs>180</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Alma better  Capstone Project -1</vt:lpstr>
      <vt:lpstr>Problem Statement</vt:lpstr>
      <vt:lpstr>Business Context</vt:lpstr>
      <vt:lpstr>Data Understanding</vt:lpstr>
      <vt:lpstr>Data loading and cleanup</vt:lpstr>
      <vt:lpstr>Exploratory Data Analysis</vt:lpstr>
      <vt:lpstr>Exploratory Data Analysis</vt:lpstr>
      <vt:lpstr>Exploratory Data Analysis</vt:lpstr>
      <vt:lpstr>Exploratory Data Analysis</vt:lpstr>
      <vt:lpstr>Exploratory Data Analysis</vt:lpstr>
      <vt:lpstr>Exploratory Data Analysis</vt:lpstr>
      <vt:lpstr>Exploratory Data Analysis</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Alma better  Capstone Project -1</dc:title>
  <dc:creator>Shafiq Abubacker Mohamed</dc:creator>
  <cp:lastModifiedBy>Shafiq</cp:lastModifiedBy>
  <cp:revision>136</cp:revision>
  <dcterms:created xsi:type="dcterms:W3CDTF">2023-11-23T05:46:59Z</dcterms:created>
  <dcterms:modified xsi:type="dcterms:W3CDTF">2023-11-23T12:43:35Z</dcterms:modified>
</cp:coreProperties>
</file>